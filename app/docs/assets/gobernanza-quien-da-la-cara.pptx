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4"/>
  </p:notesMasterIdLst>
  <p:sldIdLst>
    <p:sldId id="269" r:id="rId2"/>
    <p:sldId id="270" r:id="rId3"/>
    <p:sldId id="271" r:id="rId4"/>
    <p:sldId id="272" r:id="rId5"/>
    <p:sldId id="273" r:id="rId6"/>
    <p:sldId id="274" r:id="rId7"/>
    <p:sldId id="275" r:id="rId8"/>
    <p:sldId id="276" r:id="rId9"/>
    <p:sldId id="277" r:id="rId10"/>
    <p:sldId id="278" r:id="rId11"/>
    <p:sldId id="279" r:id="rId12"/>
    <p:sldId id="280"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52"/>
    <p:restoredTop sz="94610"/>
  </p:normalViewPr>
  <p:slideViewPr>
    <p:cSldViewPr snapToGrid="0" snapToObjects="1">
      <p:cViewPr>
        <p:scale>
          <a:sx n="66" d="100"/>
          <a:sy n="66" d="100"/>
        </p:scale>
        <p:origin x="952" y="1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703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 0:40] Quiero empezar con una pregunta incómoda… [pausa] ¿Quién da la cara? [pausa] Seguro les revolvió el cerebro un poquito, y está bien. No la respondan todavía. Guárdenla, porque al final regresamos a ella. Viajemos a Cabo Cañaveral, un 20 de febrero de 1962.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 2:50] Una computadora IBM, de las más nuevas de la época, ya tenía listos los cálculos matemáticos de la trayectoria. Piensen en algo así como cargar la ruta en Google Maps: el camino ya estaba trazado. Y aun siendo de lo más avanzado de esa década, John Glenn pidió que alguien diera la cara, y solo confiaba en la computer Katherine Johnson. [pausa] Ojo con la palabra: una computer en esos años no era una máquina, era un puesto de trabajo, un rol dentro de la organización. Una persona que calculaba. Y lo que pedía John era más que válido: un error de unos cuantos grados y la cápsula podía perderse en el espacio o no encontrar el camino de regreso a casa. Según cuenta la historia, dijo algo así como: si ella dice que están bien, estoy listo. La IBM ya había calculado. Pero esa mañana pasó algo que se resume en una sola frase.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[2:50 – 3:10] La máquina calculó. [pausa] Una persona dio la cara. [pausa de 3 segundos] Esa frase es toda la plática. Todo lo demás es ponerle contexto. Y no es una historia aislada. Es un patrón, y tiene más de 230 años.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[3:10 – 5:20] Para verlo hay que regresar a Francia, en 1793. Gaspard de Prony necesitaba tablas matemáticas enormes y armó algo así como una fábrica de computers: unos pocos diseñaban el método y decenas de calculadores lo ejecutaban, jerarquizados como una línea de ensamble, pero para resolver ecuaciones a escala. Fíjense: quien ejecuta no es quien responde. Pasan más de 150 años y llega 1946, la ENIAC, la primera computadora electrónica. ¿Y quién la programó? Seis computers, seis mujeres que hasta entonces calculaban a mano. Ahí nace un rol nuevo: programadora. Después llega la IBM a la NASA y aparece Dorothy Vaughan. Ella dirigía un grupo de computers, aprendió Fortran y llevó a su equipo a un rol nuevo. Y eso nos trae de vuelta a Katherine, dando la cara por los resultados de la IBM. ¿Ven el patrón? Cada vez que la actividad bajó a la máquina, la responsabilidad no desapareció: subió de nivel. Y hoy está pasando lo mismo, nada más que mucho más rápido.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[5:20 – 7:10] Traduzcamos esto a hoy. Un rol no es una sola cosa, tiene dos partes: actividades y responsabilidades. Las actividades sí se pueden delegar: a la IA, a un agente, a un sistema. Analizar, comparar, redactar borradores. Las responsabilidades no: decidir qué se hace y por qué, responder por el resultado y tener la autoridad para detenerlo. Es justo lo que pasó con Katherine: la IBM tenía la actividad, ella tenía la responsabilidad. Y hay una frase que se atribuye a un manual de IBM de 1979 que lo resume perfecto: “Una computadora nunca puede rendir cuentas; por lo tanto, una computadora nunca debe tomar una decisión gerencial.” Suena lógico, ¿verdad? Entonces, ¿por qué a tantas empresas les sale tan mal?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[7:10 – 8:10] Tres de cada cuatro empresas. Invirtieron, hicieron pilotos, compraron licencias… y todavía no pueden mostrar valor tangible. Eso lo midió BCG en 2024 preguntándole a cerca de mil ejecutivos. [pausa] Y ojo: la tecnología funciona. Eso no está en duda. Entonces, ¿dónde está el problema?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[8:10 – 9:30] BCG también lo desglosó. El 10% del valor depende de los algoritmos, el 20% de la tecnología y los datos, y el 70% de las personas y los procesos. Setenta por ciento. Es decir, depende de quienes estamos en esta sala. Y DORA, que estudia equipos de software en todo el mundo, agrega algo incómodo: la IA es un amplificador. Si el equipo funciona, funciona mejor. Si hay desorden, el desorden crece. Por eso quiero regresar a la pregunta del principio, pero ahora con ustedes adentro.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[9:30 – 10:45] Piensen en un proceso concreto de su área, uno que hoy ya use IA. [pausa de 5 segundos] Ahora imaginen que mañana se equivoca. Aprueba un pago indebido. Envía algo que no debía. ¿Quién da la cara? [pausa] Con nombre y apellido. No “el área”, no “el comité”. Si la respuesta tardó en llegar, no están solos. Veamos un ejemplo.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[10:45 – 12:00] Tomemos a un gerente de finanzas, en cuentas por pagar. Donde hay dinero de por medio, el cálculo y la regla no se los dejamos a un modelo de lenguaje: los ejecuta un sistema determinista. La IA explica las discrepancias y redacta el resumen de flujo de caja. Negociar plazos con proveedores y autorizar pagos sigue siendo de personas. Cambió mucho, ¿verdad? Ahora miren la última columna, la de quién responde. No cambió nada. Siempre hay un nombre. Siempre una persona. Nunca un agente, nunca un sistema. [pausa] Eso es gobernanza. No es el freno ni el acelerador: es la dirección. Saber hacia dónde va el programa de IA y quién da la cara en el camino. ¿Y quién nos enseñó a hacerlo bien? Volvamos con Dorothy.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[12:00 – 13:00] Dorothy Vaughan dirigía a un grupo de computers. Vio llegar la IBM y sabía exactamente lo que significaba. Pudo haberse resistido. Pudo haberse quedado esperando instrucciones. Hizo otra cosa: aprendió Fortran por su cuenta y después se lo enseñó a su equipo. No perdió su lugar. Lo redefinió. Eso es autoliderazgo. Y hoy les toca a ustedes. Les dejo tres preguntas.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[13:00 – 14:10] Primera: ¿qué actividades ya hace la IA en mi área? Segunda: ¿qué persona responde por cada una? Con nombre y apellido. Tercera: ¿quién tiene la autoridad para detenerla? Si alguna se quedó sin respuesta, ahí está su punto de partida para el lunes. Y para cerrar, regresamos a donde empezamos.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[14:10 – 15:00] En 1962, Katherine Johnson dio la cara por la máquina. Hoy ese papel nos toca a nosotros, a cada líder en esta sala. Hoy, los computers somos todos. [pausa] Al principio les hice una pregunta incómoda: ¿quién da la cara? Ya saben la respuesta. Ustedes. Gracias.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30920"/>
            <a:ext cx="10566400" cy="525760"/>
          </a:xfrm>
          <a:prstGeom prst="rect">
            <a:avLst/>
          </a:prstGeom>
          <a:noFill/>
          <a:ln/>
        </p:spPr>
        <p:txBody>
          <a:bodyPr wrap="square" lIns="0" tIns="0" rIns="0" bIns="0" rtlCol="0" anchor="t"/>
          <a:lstStyle>
            <a:lvl1pPr marL="0" indent="0" algn="l">
              <a:lnSpc>
                <a:spcPct val="115000"/>
              </a:lnSpc>
              <a:buNone/>
              <a:defRPr lang="en-US" sz="3600" b="1" dirty="0">
                <a:solidFill>
                  <a:srgbClr val="172033"/>
                </a:solidFill>
                <a:latin typeface="Roboto Black" pitchFamily="34" charset="0"/>
                <a:ea typeface="Source Serif 4" pitchFamily="34" charset="-122"/>
                <a:cs typeface="Source Serif 4" pitchFamily="34" charset="-120"/>
              </a:defRPr>
            </a:lvl1pPr>
          </a:lstStyle>
          <a:p>
            <a:pPr marL="0" indent="0" algn="l">
              <a:lnSpc>
                <a:spcPct val="115000"/>
              </a:lnSpc>
              <a:buNone/>
            </a:pPr>
            <a:endParaRPr lang="en-US" sz="3600" b="1" dirty="0"/>
          </a:p>
        </p:txBody>
      </p:sp>
      <p:sp>
        <p:nvSpPr>
          <p:cNvPr id="3" name="Text Placeholder 2"/>
          <p:cNvSpPr>
            <a:spLocks noGrp="1"/>
          </p:cNvSpPr>
          <p:nvPr>
            <p:ph type="body" idx="101"/>
          </p:nvPr>
        </p:nvSpPr>
        <p:spPr>
          <a:xfrm>
            <a:off x="812800" y="2161480"/>
            <a:ext cx="10566400" cy="3883720"/>
          </a:xfrm>
          <a:prstGeom prst="rect">
            <a:avLst/>
          </a:prstGeom>
          <a:noFill/>
          <a:ln/>
        </p:spPr>
        <p:txBody>
          <a:bodyPr wrap="square" lIns="0" tIns="0" rIns="0" bIns="0" rtlCol="0" anchor="t"/>
          <a:lstStyle>
            <a:lvl1pPr marL="0" indent="0" algn="l">
              <a:lnSpc>
                <a:spcPct val="140000"/>
              </a:lnSpc>
              <a:buNone/>
              <a:defRPr lang="en-US" sz="1600" b="1" dirty="0">
                <a:solidFill>
                  <a:srgbClr val="172033"/>
                </a:solidFill>
                <a:latin typeface="Roboto Black" pitchFamily="34" charset="0"/>
                <a:ea typeface="Inter" pitchFamily="34" charset="-122"/>
                <a:cs typeface="Inter" pitchFamily="34" charset="-120"/>
              </a:defRPr>
            </a:lvl1pPr>
          </a:lstStyle>
          <a:p>
            <a:pPr marL="0" indent="0" algn="l">
              <a:lnSpc>
                <a:spcPct val="140000"/>
              </a:lnSpc>
              <a:buNone/>
            </a:pPr>
            <a:endParaRPr lang="en-US" sz="1600" b="1"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30920"/>
            <a:ext cx="10566400" cy="525760"/>
          </a:xfrm>
          <a:prstGeom prst="rect">
            <a:avLst/>
          </a:prstGeom>
          <a:noFill/>
          <a:ln/>
        </p:spPr>
        <p:txBody>
          <a:bodyPr wrap="square" lIns="0" tIns="0" rIns="0" bIns="0" rtlCol="0" anchor="t"/>
          <a:lstStyle>
            <a:lvl1pPr marL="0" indent="0" algn="l">
              <a:lnSpc>
                <a:spcPct val="115000"/>
              </a:lnSpc>
              <a:buNone/>
              <a:defRPr lang="en-US" sz="3600" b="1" dirty="0">
                <a:solidFill>
                  <a:srgbClr val="172033"/>
                </a:solidFill>
                <a:latin typeface="Roboto Black" pitchFamily="34" charset="0"/>
                <a:ea typeface="Source Serif 4" pitchFamily="34" charset="-122"/>
                <a:cs typeface="Source Serif 4" pitchFamily="34" charset="-120"/>
              </a:defRPr>
            </a:lvl1pPr>
          </a:lstStyle>
          <a:p>
            <a:pPr marL="0" indent="0" algn="l">
              <a:lnSpc>
                <a:spcPct val="115000"/>
              </a:lnSpc>
              <a:buNone/>
            </a:pPr>
            <a:endParaRPr lang="en-US" sz="3600" b="1" dirty="0"/>
          </a:p>
        </p:txBody>
      </p:sp>
      <p:sp>
        <p:nvSpPr>
          <p:cNvPr id="3" name="Text Placeholder 2"/>
          <p:cNvSpPr>
            <a:spLocks noGrp="1"/>
          </p:cNvSpPr>
          <p:nvPr>
            <p:ph type="body" idx="101"/>
          </p:nvPr>
        </p:nvSpPr>
        <p:spPr>
          <a:xfrm>
            <a:off x="812800" y="2161480"/>
            <a:ext cx="10566400" cy="3883720"/>
          </a:xfrm>
          <a:prstGeom prst="rect">
            <a:avLst/>
          </a:prstGeom>
          <a:noFill/>
          <a:ln/>
        </p:spPr>
        <p:txBody>
          <a:bodyPr wrap="square" lIns="0" tIns="0" rIns="0" bIns="0" rtlCol="0" anchor="t"/>
          <a:lstStyle>
            <a:lvl1pPr marL="0" indent="0" algn="l">
              <a:lnSpc>
                <a:spcPct val="140000"/>
              </a:lnSpc>
              <a:buNone/>
              <a:defRPr lang="en-US" sz="1600" b="1" dirty="0">
                <a:solidFill>
                  <a:srgbClr val="172033"/>
                </a:solidFill>
                <a:latin typeface="Roboto Black" pitchFamily="34" charset="0"/>
                <a:ea typeface="Inter" pitchFamily="34" charset="-122"/>
                <a:cs typeface="Inter" pitchFamily="34" charset="-120"/>
              </a:defRPr>
            </a:lvl1pPr>
          </a:lstStyle>
          <a:p>
            <a:pPr marL="0" indent="0" algn="l">
              <a:lnSpc>
                <a:spcPct val="140000"/>
              </a:lnSpc>
              <a:buNone/>
            </a:pPr>
            <a:endParaRPr lang="en-US" sz="1600" b="1" dirty="0"/>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b="1"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b="1"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b="1"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b="1"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b="1"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b="1" kern="1200">
          <a:solidFill>
            <a:schemeClr val="tx1"/>
          </a:solidFill>
          <a:latin typeface="+mn-lt"/>
          <a:ea typeface="+mn-ea"/>
          <a:cs typeface="+mn-cs"/>
        </a:defRPr>
      </a:lvl9pPr>
    </p:bodyStyle>
    <p:otherStyle>
      <a:defPPr>
        <a:defRPr lang="en-US" b="1"/>
      </a:defPPr>
      <a:lvl1pPr marL="0" algn="l" defTabSz="914400" rtl="0" eaLnBrk="1" latinLnBrk="0" hangingPunct="1">
        <a:defRPr sz="1800" b="1" kern="1200">
          <a:solidFill>
            <a:schemeClr val="tx1"/>
          </a:solidFill>
          <a:latin typeface="+mn-lt"/>
          <a:ea typeface="+mn-ea"/>
          <a:cs typeface="+mn-cs"/>
        </a:defRPr>
      </a:lvl1pPr>
      <a:lvl2pPr marL="457200" algn="l" defTabSz="914400" rtl="0" eaLnBrk="1" latinLnBrk="0" hangingPunct="1">
        <a:defRPr sz="1800" b="1" kern="1200">
          <a:solidFill>
            <a:schemeClr val="tx1"/>
          </a:solidFill>
          <a:latin typeface="+mn-lt"/>
          <a:ea typeface="+mn-ea"/>
          <a:cs typeface="+mn-cs"/>
        </a:defRPr>
      </a:lvl2pPr>
      <a:lvl3pPr marL="914400" algn="l" defTabSz="914400" rtl="0" eaLnBrk="1" latinLnBrk="0" hangingPunct="1">
        <a:defRPr sz="1800" b="1" kern="1200">
          <a:solidFill>
            <a:schemeClr val="tx1"/>
          </a:solidFill>
          <a:latin typeface="+mn-lt"/>
          <a:ea typeface="+mn-ea"/>
          <a:cs typeface="+mn-cs"/>
        </a:defRPr>
      </a:lvl3pPr>
      <a:lvl4pPr marL="1371600" algn="l" defTabSz="914400" rtl="0" eaLnBrk="1" latinLnBrk="0" hangingPunct="1">
        <a:defRPr sz="1800" b="1" kern="1200">
          <a:solidFill>
            <a:schemeClr val="tx1"/>
          </a:solidFill>
          <a:latin typeface="+mn-lt"/>
          <a:ea typeface="+mn-ea"/>
          <a:cs typeface="+mn-cs"/>
        </a:defRPr>
      </a:lvl4pPr>
      <a:lvl5pPr marL="1828800" algn="l" defTabSz="914400" rtl="0" eaLnBrk="1" latinLnBrk="0" hangingPunct="1">
        <a:defRPr sz="1800" b="1" kern="1200">
          <a:solidFill>
            <a:schemeClr val="tx1"/>
          </a:solidFill>
          <a:latin typeface="+mn-lt"/>
          <a:ea typeface="+mn-ea"/>
          <a:cs typeface="+mn-cs"/>
        </a:defRPr>
      </a:lvl5pPr>
      <a:lvl6pPr marL="2286000" algn="l" defTabSz="914400" rtl="0" eaLnBrk="1" latinLnBrk="0" hangingPunct="1">
        <a:defRPr sz="1800" b="1" kern="1200">
          <a:solidFill>
            <a:schemeClr val="tx1"/>
          </a:solidFill>
          <a:latin typeface="+mn-lt"/>
          <a:ea typeface="+mn-ea"/>
          <a:cs typeface="+mn-cs"/>
        </a:defRPr>
      </a:lvl6pPr>
      <a:lvl7pPr marL="2743200" algn="l" defTabSz="914400" rtl="0" eaLnBrk="1" latinLnBrk="0" hangingPunct="1">
        <a:defRPr sz="1800" b="1" kern="1200">
          <a:solidFill>
            <a:schemeClr val="tx1"/>
          </a:solidFill>
          <a:latin typeface="+mn-lt"/>
          <a:ea typeface="+mn-ea"/>
          <a:cs typeface="+mn-cs"/>
        </a:defRPr>
      </a:lvl7pPr>
      <a:lvl8pPr marL="3200400" algn="l" defTabSz="914400" rtl="0" eaLnBrk="1" latinLnBrk="0" hangingPunct="1">
        <a:defRPr sz="1800" b="1" kern="1200">
          <a:solidFill>
            <a:schemeClr val="tx1"/>
          </a:solidFill>
          <a:latin typeface="+mn-lt"/>
          <a:ea typeface="+mn-ea"/>
          <a:cs typeface="+mn-cs"/>
        </a:defRPr>
      </a:lvl8pPr>
      <a:lvl9pPr marL="3657600" algn="l" defTabSz="914400" rtl="0" eaLnBrk="1" latinLnBrk="0" hangingPunct="1">
        <a:defRPr sz="1800" b="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812800" y="22517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300" dirty="0">
                <a:solidFill>
                  <a:srgbClr val="E8894F"/>
                </a:solidFill>
                <a:latin typeface="Roboto Black" pitchFamily="34" charset="0"/>
                <a:ea typeface="Roboto Black" pitchFamily="34" charset="-122"/>
                <a:cs typeface="Roboto Black" pitchFamily="34" charset="-120"/>
              </a:rPr>
              <a:t>GOBERNANZA DE IA</a:t>
            </a:r>
            <a:endParaRPr lang="en-US" sz="1200" b="1" dirty="0"/>
          </a:p>
        </p:txBody>
      </p:sp>
      <p:sp>
        <p:nvSpPr>
          <p:cNvPr id="3" name="Text 1"/>
          <p:cNvSpPr>
            <a:spLocks noGrp="1"/>
          </p:cNvSpPr>
          <p:nvPr>
            <p:ph type="title"/>
          </p:nvPr>
        </p:nvSpPr>
        <p:spPr>
          <a:xfrm>
            <a:off x="812800" y="2719040"/>
            <a:ext cx="10883392" cy="1092200"/>
          </a:xfrm>
          <a:prstGeom prst="rect">
            <a:avLst/>
          </a:prstGeom>
          <a:noFill/>
          <a:ln/>
        </p:spPr>
        <p:txBody>
          <a:bodyPr wrap="square" lIns="0" tIns="0" rIns="0" bIns="0" rtlCol="0" anchor="t">
            <a:normAutofit/>
          </a:bodyPr>
          <a:lstStyle/>
          <a:p>
            <a:pPr marL="0" indent="0" algn="l">
              <a:lnSpc>
                <a:spcPts val="8400"/>
              </a:lnSpc>
              <a:buNone/>
            </a:pPr>
            <a:r>
              <a:rPr lang="en-US" sz="8000" b="1" i="0" dirty="0">
                <a:solidFill>
                  <a:srgbClr val="F6F4EE"/>
                </a:solidFill>
                <a:latin typeface="Roboto Black" panose="02000000000000000000" pitchFamily="2" charset="0"/>
                <a:ea typeface="Roboto Black" panose="02000000000000000000" pitchFamily="2" charset="0"/>
                <a:cs typeface="Roboto Black" pitchFamily="18" charset="-120"/>
              </a:rPr>
              <a:t>¿QUIÉN DA LA CARA?</a:t>
            </a:r>
            <a:endParaRPr lang="en-US" sz="8000" b="1" dirty="0">
              <a:latin typeface="Roboto Black" panose="02000000000000000000" pitchFamily="2" charset="0"/>
              <a:ea typeface="Roboto Black" panose="02000000000000000000" pitchFamily="2" charset="0"/>
            </a:endParaRPr>
          </a:p>
        </p:txBody>
      </p:sp>
      <p:sp>
        <p:nvSpPr>
          <p:cNvPr id="4" name="Text 2"/>
          <p:cNvSpPr/>
          <p:nvPr/>
        </p:nvSpPr>
        <p:spPr>
          <a:xfrm>
            <a:off x="812800" y="4039840"/>
            <a:ext cx="8502650" cy="388590"/>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C9CDD6"/>
                </a:solidFill>
                <a:latin typeface="Roboto Black" pitchFamily="34" charset="0"/>
                <a:ea typeface="Roboto Black" pitchFamily="34" charset="-122"/>
                <a:cs typeface="Roboto Black" pitchFamily="34" charset="-120"/>
              </a:rPr>
              <a:t>Lo que 1962 nos enseña sobre la IA en 2026</a:t>
            </a:r>
            <a:endParaRPr lang="en-US" sz="2200" b="1"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A1B0"/>
                </a:solidFill>
                <a:latin typeface="Roboto Black" pitchFamily="34" charset="0"/>
                <a:ea typeface="Roboto Black" pitchFamily="34" charset="-122"/>
                <a:cs typeface="Roboto Black" pitchFamily="34" charset="-120"/>
              </a:rPr>
              <a:t>Alan Estrada · Octubre 2026</a:t>
            </a:r>
            <a:endParaRPr lang="en-US" sz="1200" b="1" dirty="0"/>
          </a:p>
        </p:txBody>
      </p:sp>
    </p:spTree>
    <p:extLst>
      <p:ext uri="{BB962C8B-B14F-4D97-AF65-F5344CB8AC3E}">
        <p14:creationId xmlns:p14="http://schemas.microsoft.com/office/powerpoint/2010/main" val="560321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tx1"/>
        </a:solidFill>
        <a:effectLst/>
      </p:bgPr>
    </p:bg>
    <p:spTree>
      <p:nvGrpSpPr>
        <p:cNvPr id="1" name=""/>
        <p:cNvGrpSpPr/>
        <p:nvPr/>
      </p:nvGrpSpPr>
      <p:grpSpPr>
        <a:xfrm>
          <a:off x="0" y="0"/>
          <a:ext cx="0" cy="0"/>
          <a:chOff x="0" y="0"/>
          <a:chExt cx="0" cy="0"/>
        </a:xfrm>
      </p:grpSpPr>
      <p:pic>
        <p:nvPicPr>
          <p:cNvPr id="7" name="Imagen 6" descr="Sesenta años del vuelo espacial de John Glenn: El primer astronauta de la Nasa en orbitar la Tierra - La Tercera">
            <a:extLst>
              <a:ext uri="{FF2B5EF4-FFF2-40B4-BE49-F238E27FC236}">
                <a16:creationId xmlns:a16="http://schemas.microsoft.com/office/drawing/2014/main" id="{85239086-D5A9-C13B-2F54-1BEEAAA9C862}"/>
              </a:ext>
            </a:extLst>
          </p:cNvPr>
          <p:cNvPicPr>
            <a:picLocks noChangeAspect="1"/>
          </p:cNvPicPr>
          <p:nvPr/>
        </p:nvPicPr>
        <p:blipFill>
          <a:blip r:embed="rId3">
            <a:alphaModFix amt="35000"/>
          </a:blip>
          <a:srcRect b="15832"/>
          <a:stretch>
            <a:fillRect/>
          </a:stretch>
        </p:blipFill>
        <p:spPr>
          <a:xfrm>
            <a:off x="6839625" y="0"/>
            <a:ext cx="5352375" cy="6858000"/>
          </a:xfrm>
          <a:prstGeom prst="rect">
            <a:avLst/>
          </a:prstGeom>
        </p:spPr>
      </p:pic>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300" dirty="0">
                <a:solidFill>
                  <a:schemeClr val="bg1"/>
                </a:solidFill>
                <a:latin typeface="Roboto Black" pitchFamily="34" charset="0"/>
                <a:ea typeface="Roboto Black" pitchFamily="34" charset="-122"/>
                <a:cs typeface="Roboto Black" pitchFamily="34" charset="-120"/>
              </a:rPr>
              <a:t>20 DE FEBRERO DE 1962</a:t>
            </a:r>
            <a:endParaRPr lang="en-US" sz="1200" b="1" dirty="0">
              <a:solidFill>
                <a:schemeClr val="bg1"/>
              </a:solidFill>
            </a:endParaRPr>
          </a:p>
        </p:txBody>
      </p:sp>
      <p:sp>
        <p:nvSpPr>
          <p:cNvPr id="3" name="Text 1"/>
          <p:cNvSpPr>
            <a:spLocks noGrp="1"/>
          </p:cNvSpPr>
          <p:nvPr>
            <p:ph type="title"/>
          </p:nvPr>
        </p:nvSpPr>
        <p:spPr>
          <a:prstGeom prst="rect">
            <a:avLst/>
          </a:prstGeom>
          <a:noFill/>
          <a:ln/>
        </p:spPr>
        <p:txBody>
          <a:bodyPr wrap="square" lIns="0" tIns="0" rIns="0" bIns="0" rtlCol="0" anchor="t">
            <a:normAutofit fontScale="90000"/>
          </a:bodyPr>
          <a:lstStyle/>
          <a:p>
            <a:pPr marL="0" indent="0" algn="just">
              <a:lnSpc>
                <a:spcPts val="4140"/>
              </a:lnSpc>
              <a:buNone/>
            </a:pPr>
            <a:r>
              <a:rPr lang="en-US" sz="3600" b="1" i="0" dirty="0">
                <a:solidFill>
                  <a:schemeClr val="bg1"/>
                </a:solidFill>
                <a:latin typeface="Roboto Black" pitchFamily="18" charset="0"/>
                <a:ea typeface="Roboto Black" pitchFamily="18" charset="-122"/>
                <a:cs typeface="Roboto Black" pitchFamily="18" charset="-120"/>
              </a:rPr>
              <a:t>UNA COMPUTADORA IBM YA HABÍA CALCULADO </a:t>
            </a:r>
            <a:br>
              <a:rPr lang="en-US" sz="3600" b="1" i="0" dirty="0">
                <a:solidFill>
                  <a:schemeClr val="bg1"/>
                </a:solidFill>
                <a:latin typeface="Roboto Black" pitchFamily="18" charset="0"/>
                <a:ea typeface="Roboto Black" pitchFamily="18" charset="-122"/>
                <a:cs typeface="Roboto Black" pitchFamily="18" charset="-120"/>
              </a:rPr>
            </a:br>
            <a:r>
              <a:rPr lang="en-US" sz="3600" b="1" i="0" dirty="0">
                <a:solidFill>
                  <a:schemeClr val="bg1"/>
                </a:solidFill>
                <a:latin typeface="Roboto Black" pitchFamily="18" charset="0"/>
                <a:ea typeface="Roboto Black" pitchFamily="18" charset="-122"/>
                <a:cs typeface="Roboto Black" pitchFamily="18" charset="-120"/>
              </a:rPr>
              <a:t>LA ÓRBITA DE JOHN GLENN.</a:t>
            </a:r>
            <a:endParaRPr lang="en-US" sz="3600" b="1" dirty="0">
              <a:solidFill>
                <a:schemeClr val="bg1"/>
              </a:solidFill>
            </a:endParaRPr>
          </a:p>
        </p:txBody>
      </p:sp>
      <p:sp>
        <p:nvSpPr>
          <p:cNvPr id="4" name="Text 2"/>
          <p:cNvSpPr/>
          <p:nvPr/>
        </p:nvSpPr>
        <p:spPr>
          <a:xfrm>
            <a:off x="812799" y="2687241"/>
            <a:ext cx="5283201" cy="779760"/>
          </a:xfrm>
          <a:prstGeom prst="rect">
            <a:avLst/>
          </a:prstGeom>
          <a:noFill/>
          <a:ln/>
        </p:spPr>
        <p:txBody>
          <a:bodyPr wrap="square" lIns="0" tIns="0" rIns="0" bIns="0" rtlCol="0" anchor="t">
            <a:normAutofit fontScale="77500" lnSpcReduction="20000"/>
          </a:bodyPr>
          <a:lstStyle/>
          <a:p>
            <a:pPr marL="0" indent="0" algn="l">
              <a:lnSpc>
                <a:spcPts val="2970"/>
              </a:lnSpc>
              <a:buNone/>
            </a:pPr>
            <a:r>
              <a:rPr lang="en-US" sz="2400" b="1" dirty="0">
                <a:solidFill>
                  <a:schemeClr val="bg1"/>
                </a:solidFill>
                <a:latin typeface="Roboto Black" pitchFamily="34" charset="0"/>
                <a:ea typeface="Roboto Black" pitchFamily="34" charset="-122"/>
                <a:cs typeface="Roboto Black" pitchFamily="34" charset="-120"/>
              </a:rPr>
              <a:t>Antes de despegar, Glenn pidió una cosa más: </a:t>
            </a:r>
          </a:p>
          <a:p>
            <a:pPr marL="0" indent="0" algn="l">
              <a:lnSpc>
                <a:spcPts val="2970"/>
              </a:lnSpc>
              <a:buNone/>
            </a:pPr>
            <a:r>
              <a:rPr lang="en-US" sz="2400" b="1" dirty="0" err="1">
                <a:solidFill>
                  <a:schemeClr val="accent4"/>
                </a:solidFill>
                <a:latin typeface="Roboto Black" pitchFamily="34" charset="0"/>
                <a:ea typeface="Roboto Black" pitchFamily="34" charset="-122"/>
                <a:cs typeface="Roboto Black" pitchFamily="34" charset="-120"/>
              </a:rPr>
              <a:t>que</a:t>
            </a:r>
            <a:r>
              <a:rPr lang="en-US" sz="2400" b="1" dirty="0">
                <a:solidFill>
                  <a:schemeClr val="accent4"/>
                </a:solidFill>
                <a:latin typeface="Roboto Black" pitchFamily="34" charset="0"/>
                <a:ea typeface="Roboto Black" pitchFamily="34" charset="-122"/>
                <a:cs typeface="Roboto Black" pitchFamily="34" charset="-120"/>
              </a:rPr>
              <a:t> una persona revisara los números a mano.</a:t>
            </a:r>
            <a:endParaRPr lang="en-US" sz="2400" b="1" dirty="0">
              <a:solidFill>
                <a:schemeClr val="accent4"/>
              </a:solidFill>
            </a:endParaRPr>
          </a:p>
        </p:txBody>
      </p:sp>
      <p:sp>
        <p:nvSpPr>
          <p:cNvPr id="5" name="Text 3"/>
          <p:cNvSpPr/>
          <p:nvPr/>
        </p:nvSpPr>
        <p:spPr>
          <a:xfrm>
            <a:off x="812799" y="430148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1" dirty="0">
                <a:solidFill>
                  <a:schemeClr val="bg1"/>
                </a:solidFill>
                <a:latin typeface="Roboto Black" pitchFamily="18" charset="0"/>
                <a:ea typeface="Roboto Black" pitchFamily="18" charset="-122"/>
                <a:cs typeface="Roboto Black" pitchFamily="18" charset="-120"/>
              </a:rPr>
              <a:t>ESA PERSONA ERA </a:t>
            </a:r>
            <a:r>
              <a:rPr lang="en-US" sz="3600" b="1" i="1" dirty="0">
                <a:solidFill>
                  <a:schemeClr val="accent4"/>
                </a:solidFill>
                <a:latin typeface="Roboto Black" pitchFamily="18" charset="0"/>
                <a:ea typeface="Roboto Black" pitchFamily="18" charset="-122"/>
                <a:cs typeface="Roboto Black" pitchFamily="18" charset="-120"/>
              </a:rPr>
              <a:t>KATHERINE JOHNSON.</a:t>
            </a:r>
            <a:endParaRPr lang="en-US" sz="3600" b="1" dirty="0">
              <a:solidFill>
                <a:schemeClr val="accent4"/>
              </a:solidFill>
            </a:endParaRPr>
          </a:p>
        </p:txBody>
      </p:sp>
      <p:sp>
        <p:nvSpPr>
          <p:cNvPr id="6" name="Text 4"/>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chemeClr val="bg1"/>
                </a:solidFill>
                <a:latin typeface="Roboto Black" pitchFamily="34" charset="0"/>
                <a:ea typeface="Roboto Black" pitchFamily="34" charset="-122"/>
                <a:cs typeface="Roboto Black" pitchFamily="34" charset="-120"/>
              </a:rPr>
              <a:t>Fuentes: Shetterly (2016), Hidden Figures; NASA.</a:t>
            </a:r>
            <a:endParaRPr lang="en-US" sz="1200" b="1" dirty="0">
              <a:solidFill>
                <a:schemeClr val="bg1"/>
              </a:solidFill>
            </a:endParaRPr>
          </a:p>
        </p:txBody>
      </p:sp>
      <p:sp>
        <p:nvSpPr>
          <p:cNvPr id="8" name="CuadroTexto 7">
            <a:extLst>
              <a:ext uri="{FF2B5EF4-FFF2-40B4-BE49-F238E27FC236}">
                <a16:creationId xmlns:a16="http://schemas.microsoft.com/office/drawing/2014/main" id="{389CBF4F-5C77-0167-D844-3DE25FFA8733}"/>
              </a:ext>
            </a:extLst>
          </p:cNvPr>
          <p:cNvSpPr txBox="1"/>
          <p:nvPr/>
        </p:nvSpPr>
        <p:spPr>
          <a:xfrm>
            <a:off x="1809345" y="5097294"/>
            <a:ext cx="184731" cy="369332"/>
          </a:xfrm>
          <a:prstGeom prst="rect">
            <a:avLst/>
          </a:prstGeom>
          <a:noFill/>
        </p:spPr>
        <p:txBody>
          <a:bodyPr wrap="none" rtlCol="0">
            <a:spAutoFit/>
          </a:bodyPr>
          <a:lstStyle/>
          <a:p>
            <a:endParaRPr lang="es-MX" b="1" dirty="0"/>
          </a:p>
        </p:txBody>
      </p:sp>
    </p:spTree>
    <p:extLst>
      <p:ext uri="{BB962C8B-B14F-4D97-AF65-F5344CB8AC3E}">
        <p14:creationId xmlns:p14="http://schemas.microsoft.com/office/powerpoint/2010/main" val="3949019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2">
            <a:lumMod val="10000"/>
          </a:schemeClr>
        </a:solidFill>
        <a:effectLst/>
      </p:bgPr>
    </p:bg>
    <p:spTree>
      <p:nvGrpSpPr>
        <p:cNvPr id="1" name=""/>
        <p:cNvGrpSpPr/>
        <p:nvPr/>
      </p:nvGrpSpPr>
      <p:grpSpPr>
        <a:xfrm>
          <a:off x="0" y="0"/>
          <a:ext cx="0" cy="0"/>
          <a:chOff x="0" y="0"/>
          <a:chExt cx="0" cy="0"/>
        </a:xfrm>
      </p:grpSpPr>
      <p:pic>
        <p:nvPicPr>
          <p:cNvPr id="8" name="Imagen 7" descr="La brillante afroamericana que enseño a la NASA a programar sus propios  ordenadores: Dorothy Vaughan">
            <a:extLst>
              <a:ext uri="{FF2B5EF4-FFF2-40B4-BE49-F238E27FC236}">
                <a16:creationId xmlns:a16="http://schemas.microsoft.com/office/drawing/2014/main" id="{5029FA89-89C8-9498-2758-BF5C1B143DBA}"/>
              </a:ext>
            </a:extLst>
          </p:cNvPr>
          <p:cNvPicPr>
            <a:picLocks noChangeAspect="1"/>
          </p:cNvPicPr>
          <p:nvPr/>
        </p:nvPicPr>
        <p:blipFill>
          <a:blip r:embed="rId3">
            <a:alphaModFix amt="20000"/>
          </a:blip>
          <a:stretch>
            <a:fillRect/>
          </a:stretch>
        </p:blipFill>
        <p:spPr>
          <a:xfrm>
            <a:off x="0" y="0"/>
            <a:ext cx="12192000" cy="6858000"/>
          </a:xfrm>
          <a:prstGeom prst="rect">
            <a:avLst/>
          </a:prstGeom>
        </p:spPr>
      </p:pic>
      <p:sp>
        <p:nvSpPr>
          <p:cNvPr id="2" name="Text 0"/>
          <p:cNvSpPr/>
          <p:nvPr/>
        </p:nvSpPr>
        <p:spPr>
          <a:xfrm>
            <a:off x="654304" y="406400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chemeClr val="bg1"/>
                </a:solidFill>
                <a:latin typeface="Roboto Black" pitchFamily="18" charset="0"/>
                <a:ea typeface="Roboto Black" pitchFamily="18" charset="-122"/>
                <a:cs typeface="Roboto Black" pitchFamily="18" charset="-120"/>
              </a:rPr>
              <a:t>La máquina calculó.</a:t>
            </a:r>
            <a:endParaRPr lang="en-US" sz="6000" b="1" dirty="0">
              <a:solidFill>
                <a:schemeClr val="bg1"/>
              </a:solidFill>
            </a:endParaRPr>
          </a:p>
        </p:txBody>
      </p:sp>
      <p:sp>
        <p:nvSpPr>
          <p:cNvPr id="3" name="Text 1"/>
          <p:cNvSpPr/>
          <p:nvPr/>
        </p:nvSpPr>
        <p:spPr>
          <a:xfrm>
            <a:off x="654304" y="502920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chemeClr val="bg1"/>
                </a:solidFill>
                <a:latin typeface="Roboto Black" pitchFamily="18" charset="0"/>
                <a:ea typeface="Roboto Black" pitchFamily="18" charset="-122"/>
                <a:cs typeface="Roboto Black" pitchFamily="18" charset="-120"/>
              </a:rPr>
              <a:t>UNA PERSONA DIO LA CARA.</a:t>
            </a:r>
            <a:endParaRPr lang="en-US" sz="6000" b="1" dirty="0">
              <a:solidFill>
                <a:schemeClr val="bg1"/>
              </a:solidFill>
            </a:endParaRPr>
          </a:p>
        </p:txBody>
      </p:sp>
    </p:spTree>
    <p:extLst>
      <p:ext uri="{BB962C8B-B14F-4D97-AF65-F5344CB8AC3E}">
        <p14:creationId xmlns:p14="http://schemas.microsoft.com/office/powerpoint/2010/main" val="1815411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300" dirty="0">
                <a:solidFill>
                  <a:schemeClr val="bg1"/>
                </a:solidFill>
                <a:latin typeface="Roboto Black" pitchFamily="34" charset="0"/>
                <a:ea typeface="Roboto Black" pitchFamily="34" charset="-122"/>
                <a:cs typeface="Roboto Black" pitchFamily="34" charset="-120"/>
              </a:rPr>
              <a:t>UN PATRÓN DE 230 AÑOS</a:t>
            </a:r>
            <a:endParaRPr lang="en-US" sz="1200" b="1" dirty="0">
              <a:solidFill>
                <a:schemeClr val="bg1"/>
              </a:solidFill>
            </a:endParaRPr>
          </a:p>
        </p:txBody>
      </p:sp>
      <p:sp>
        <p:nvSpPr>
          <p:cNvPr id="3" name="Text 1"/>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4140"/>
              </a:lnSpc>
              <a:buNone/>
            </a:pPr>
            <a:r>
              <a:rPr lang="en-US" sz="3600" b="1" i="0" dirty="0">
                <a:solidFill>
                  <a:schemeClr val="bg1"/>
                </a:solidFill>
                <a:latin typeface="Roboto Black" pitchFamily="18" charset="0"/>
                <a:ea typeface="Roboto Black" pitchFamily="18" charset="-122"/>
                <a:cs typeface="Roboto Black" pitchFamily="18" charset="-120"/>
              </a:rPr>
              <a:t>La actividad bajó a la máquina. </a:t>
            </a:r>
            <a:br>
              <a:rPr lang="en-US" sz="3600" b="1" i="0" dirty="0">
                <a:solidFill>
                  <a:schemeClr val="bg1"/>
                </a:solidFill>
                <a:latin typeface="Roboto Black" pitchFamily="18" charset="0"/>
                <a:ea typeface="Roboto Black" pitchFamily="18" charset="-122"/>
                <a:cs typeface="Roboto Black" pitchFamily="18" charset="-120"/>
              </a:rPr>
            </a:br>
            <a:r>
              <a:rPr lang="en-US" sz="3600" b="1" i="0" dirty="0">
                <a:solidFill>
                  <a:schemeClr val="bg1"/>
                </a:solidFill>
                <a:latin typeface="Roboto Black" pitchFamily="18" charset="0"/>
                <a:ea typeface="Roboto Black" pitchFamily="18" charset="-122"/>
                <a:cs typeface="Roboto Black" pitchFamily="18" charset="-120"/>
              </a:rPr>
              <a:t>La responsabilidad subió de nivel.</a:t>
            </a:r>
            <a:endParaRPr lang="en-US" sz="3600" b="1" dirty="0">
              <a:solidFill>
                <a:schemeClr val="bg1"/>
              </a:solidFill>
            </a:endParaRPr>
          </a:p>
        </p:txBody>
      </p:sp>
      <p:sp>
        <p:nvSpPr>
          <p:cNvPr id="4" name="Shape 2"/>
          <p:cNvSpPr/>
          <p:nvPr/>
        </p:nvSpPr>
        <p:spPr>
          <a:xfrm>
            <a:off x="815975" y="2690416"/>
            <a:ext cx="2482850" cy="2414141"/>
          </a:xfrm>
          <a:prstGeom prst="roundRect">
            <a:avLst>
              <a:gd name="adj" fmla="val 4077"/>
            </a:avLst>
          </a:prstGeom>
          <a:solidFill>
            <a:srgbClr val="FFFDF8"/>
          </a:solidFill>
          <a:ln w="6350">
            <a:solidFill>
              <a:srgbClr val="E2DDD1"/>
            </a:solidFill>
            <a:prstDash val="solid"/>
          </a:ln>
        </p:spPr>
        <p:txBody>
          <a:bodyPr/>
          <a:lstStyle/>
          <a:p>
            <a:endParaRPr lang="es-MX" b="1"/>
          </a:p>
        </p:txBody>
      </p:sp>
      <p:sp>
        <p:nvSpPr>
          <p:cNvPr id="5" name="Text 3"/>
          <p:cNvSpPr/>
          <p:nvPr/>
        </p:nvSpPr>
        <p:spPr>
          <a:xfrm>
            <a:off x="1073150" y="2947591"/>
            <a:ext cx="2027555" cy="482600"/>
          </a:xfrm>
          <a:prstGeom prst="rect">
            <a:avLst/>
          </a:prstGeom>
          <a:noFill/>
          <a:ln/>
        </p:spPr>
        <p:txBody>
          <a:bodyPr wrap="square" lIns="0" tIns="0" rIns="0" bIns="0" rtlCol="0" anchor="t">
            <a:normAutofit/>
          </a:bodyPr>
          <a:lstStyle/>
          <a:p>
            <a:pPr marL="0" indent="0" algn="l">
              <a:lnSpc>
                <a:spcPts val="3600"/>
              </a:lnSpc>
              <a:buNone/>
            </a:pPr>
            <a:r>
              <a:rPr lang="en-US" sz="3600" b="1" dirty="0">
                <a:latin typeface="Roboto Black" pitchFamily="18" charset="0"/>
                <a:ea typeface="Roboto Black" pitchFamily="18" charset="-122"/>
                <a:cs typeface="Roboto Black" pitchFamily="18" charset="-120"/>
              </a:rPr>
              <a:t>1793</a:t>
            </a:r>
            <a:endParaRPr lang="en-US" sz="3600" b="1" dirty="0"/>
          </a:p>
        </p:txBody>
      </p:sp>
      <p:sp>
        <p:nvSpPr>
          <p:cNvPr id="6" name="Text 4"/>
          <p:cNvSpPr/>
          <p:nvPr/>
        </p:nvSpPr>
        <p:spPr>
          <a:xfrm>
            <a:off x="1073150" y="3506391"/>
            <a:ext cx="2027555" cy="269230"/>
          </a:xfrm>
          <a:prstGeom prst="rect">
            <a:avLst/>
          </a:prstGeom>
          <a:noFill/>
          <a:ln/>
        </p:spPr>
        <p:txBody>
          <a:bodyPr wrap="square" lIns="0" tIns="0" rIns="0" bIns="0" rtlCol="0" anchor="t">
            <a:normAutofit/>
          </a:bodyPr>
          <a:lstStyle/>
          <a:p>
            <a:pPr marL="0" indent="0" algn="l">
              <a:lnSpc>
                <a:spcPts val="1920"/>
              </a:lnSpc>
              <a:buNone/>
            </a:pPr>
            <a:r>
              <a:rPr lang="en-US" sz="1600" b="1" dirty="0">
                <a:latin typeface="Roboto Black" pitchFamily="34" charset="0"/>
                <a:ea typeface="Roboto Black" pitchFamily="34" charset="-122"/>
                <a:cs typeface="Roboto Black" pitchFamily="34" charset="-120"/>
              </a:rPr>
              <a:t>De Prony</a:t>
            </a:r>
            <a:endParaRPr lang="en-US" sz="1600" b="1" dirty="0"/>
          </a:p>
        </p:txBody>
      </p:sp>
      <p:sp>
        <p:nvSpPr>
          <p:cNvPr id="7" name="Text 5"/>
          <p:cNvSpPr/>
          <p:nvPr/>
        </p:nvSpPr>
        <p:spPr>
          <a:xfrm>
            <a:off x="1073150" y="3851821"/>
            <a:ext cx="2027555" cy="1020961"/>
          </a:xfrm>
          <a:prstGeom prst="rect">
            <a:avLst/>
          </a:prstGeom>
          <a:noFill/>
          <a:ln/>
        </p:spPr>
        <p:txBody>
          <a:bodyPr wrap="square" lIns="0" tIns="0" rIns="0" bIns="0" rtlCol="0" anchor="t">
            <a:normAutofit/>
          </a:bodyPr>
          <a:lstStyle/>
          <a:p>
            <a:pPr marL="0" indent="0" algn="l">
              <a:lnSpc>
                <a:spcPts val="1960"/>
              </a:lnSpc>
              <a:buNone/>
            </a:pPr>
            <a:r>
              <a:rPr lang="en-US" sz="1400" b="1" dirty="0">
                <a:latin typeface="Roboto Black" pitchFamily="34" charset="0"/>
                <a:ea typeface="Roboto Black" pitchFamily="34" charset="-122"/>
                <a:cs typeface="Roboto Black" pitchFamily="34" charset="-120"/>
              </a:rPr>
              <a:t>Unos pocos diseñan el método. Decenas de calculadores lo ejecutan.</a:t>
            </a:r>
            <a:endParaRPr lang="en-US" sz="1400" b="1" dirty="0"/>
          </a:p>
        </p:txBody>
      </p:sp>
      <p:sp>
        <p:nvSpPr>
          <p:cNvPr id="8" name="Shape 6"/>
          <p:cNvSpPr/>
          <p:nvPr/>
        </p:nvSpPr>
        <p:spPr>
          <a:xfrm>
            <a:off x="3508375" y="2690416"/>
            <a:ext cx="2482850" cy="2414141"/>
          </a:xfrm>
          <a:prstGeom prst="roundRect">
            <a:avLst>
              <a:gd name="adj" fmla="val 4077"/>
            </a:avLst>
          </a:prstGeom>
          <a:solidFill>
            <a:srgbClr val="FFFDF8"/>
          </a:solidFill>
          <a:ln w="6350">
            <a:solidFill>
              <a:srgbClr val="E2DDD1"/>
            </a:solidFill>
            <a:prstDash val="solid"/>
          </a:ln>
        </p:spPr>
        <p:txBody>
          <a:bodyPr/>
          <a:lstStyle/>
          <a:p>
            <a:endParaRPr lang="es-MX" b="1"/>
          </a:p>
        </p:txBody>
      </p:sp>
      <p:sp>
        <p:nvSpPr>
          <p:cNvPr id="9" name="Text 7"/>
          <p:cNvSpPr/>
          <p:nvPr/>
        </p:nvSpPr>
        <p:spPr>
          <a:xfrm>
            <a:off x="3765550" y="2947591"/>
            <a:ext cx="2027555" cy="482600"/>
          </a:xfrm>
          <a:prstGeom prst="rect">
            <a:avLst/>
          </a:prstGeom>
          <a:noFill/>
          <a:ln/>
        </p:spPr>
        <p:txBody>
          <a:bodyPr wrap="square" lIns="0" tIns="0" rIns="0" bIns="0" rtlCol="0" anchor="t">
            <a:normAutofit/>
          </a:bodyPr>
          <a:lstStyle/>
          <a:p>
            <a:pPr marL="0" indent="0" algn="l">
              <a:lnSpc>
                <a:spcPts val="3600"/>
              </a:lnSpc>
              <a:buNone/>
            </a:pPr>
            <a:r>
              <a:rPr lang="en-US" sz="3600" b="1" dirty="0">
                <a:latin typeface="Roboto Black" pitchFamily="18" charset="0"/>
                <a:ea typeface="Roboto Black" pitchFamily="18" charset="-122"/>
                <a:cs typeface="Roboto Black" pitchFamily="18" charset="-120"/>
              </a:rPr>
              <a:t>1946</a:t>
            </a:r>
            <a:endParaRPr lang="en-US" sz="3600" b="1" dirty="0"/>
          </a:p>
        </p:txBody>
      </p:sp>
      <p:sp>
        <p:nvSpPr>
          <p:cNvPr id="10" name="Text 8"/>
          <p:cNvSpPr/>
          <p:nvPr/>
        </p:nvSpPr>
        <p:spPr>
          <a:xfrm>
            <a:off x="3765550" y="3506391"/>
            <a:ext cx="2027555" cy="269230"/>
          </a:xfrm>
          <a:prstGeom prst="rect">
            <a:avLst/>
          </a:prstGeom>
          <a:noFill/>
          <a:ln/>
        </p:spPr>
        <p:txBody>
          <a:bodyPr wrap="square" lIns="0" tIns="0" rIns="0" bIns="0" rtlCol="0" anchor="t">
            <a:normAutofit/>
          </a:bodyPr>
          <a:lstStyle/>
          <a:p>
            <a:pPr marL="0" indent="0" algn="l">
              <a:lnSpc>
                <a:spcPts val="1920"/>
              </a:lnSpc>
              <a:buNone/>
            </a:pPr>
            <a:r>
              <a:rPr lang="en-US" sz="1600" b="1" dirty="0">
                <a:latin typeface="Roboto Black" pitchFamily="34" charset="0"/>
                <a:ea typeface="Roboto Black" pitchFamily="34" charset="-122"/>
                <a:cs typeface="Roboto Black" pitchFamily="34" charset="-120"/>
              </a:rPr>
              <a:t>ENIAC</a:t>
            </a:r>
            <a:endParaRPr lang="en-US" sz="1600" b="1" dirty="0"/>
          </a:p>
        </p:txBody>
      </p:sp>
      <p:sp>
        <p:nvSpPr>
          <p:cNvPr id="11" name="Text 9"/>
          <p:cNvSpPr/>
          <p:nvPr/>
        </p:nvSpPr>
        <p:spPr>
          <a:xfrm>
            <a:off x="3765550" y="3851821"/>
            <a:ext cx="2027555" cy="772071"/>
          </a:xfrm>
          <a:prstGeom prst="rect">
            <a:avLst/>
          </a:prstGeom>
          <a:noFill/>
          <a:ln/>
        </p:spPr>
        <p:txBody>
          <a:bodyPr wrap="square" lIns="0" tIns="0" rIns="0" bIns="0" rtlCol="0" anchor="t">
            <a:normAutofit/>
          </a:bodyPr>
          <a:lstStyle/>
          <a:p>
            <a:pPr marL="0" indent="0" algn="l">
              <a:lnSpc>
                <a:spcPts val="1960"/>
              </a:lnSpc>
              <a:buNone/>
            </a:pPr>
            <a:r>
              <a:rPr lang="en-US" sz="1400" b="1" dirty="0">
                <a:latin typeface="Roboto Black" pitchFamily="34" charset="0"/>
                <a:ea typeface="Roboto Black" pitchFamily="34" charset="-122"/>
                <a:cs typeface="Roboto Black" pitchFamily="34" charset="-120"/>
              </a:rPr>
              <a:t>Seis computers se vuelven las primeras programadoras.</a:t>
            </a:r>
            <a:endParaRPr lang="en-US" sz="1400" b="1" dirty="0"/>
          </a:p>
        </p:txBody>
      </p:sp>
      <p:sp>
        <p:nvSpPr>
          <p:cNvPr id="12" name="Shape 10"/>
          <p:cNvSpPr/>
          <p:nvPr/>
        </p:nvSpPr>
        <p:spPr>
          <a:xfrm>
            <a:off x="6200775" y="2690416"/>
            <a:ext cx="2482850" cy="2414141"/>
          </a:xfrm>
          <a:prstGeom prst="roundRect">
            <a:avLst>
              <a:gd name="adj" fmla="val 4077"/>
            </a:avLst>
          </a:prstGeom>
          <a:solidFill>
            <a:srgbClr val="FFFDF8"/>
          </a:solidFill>
          <a:ln w="6350">
            <a:solidFill>
              <a:srgbClr val="E2DDD1"/>
            </a:solidFill>
            <a:prstDash val="solid"/>
          </a:ln>
        </p:spPr>
        <p:txBody>
          <a:bodyPr/>
          <a:lstStyle/>
          <a:p>
            <a:endParaRPr lang="es-MX" b="1"/>
          </a:p>
        </p:txBody>
      </p:sp>
      <p:sp>
        <p:nvSpPr>
          <p:cNvPr id="13" name="Text 11"/>
          <p:cNvSpPr/>
          <p:nvPr/>
        </p:nvSpPr>
        <p:spPr>
          <a:xfrm>
            <a:off x="6457950" y="2947591"/>
            <a:ext cx="2027555" cy="482600"/>
          </a:xfrm>
          <a:prstGeom prst="rect">
            <a:avLst/>
          </a:prstGeom>
          <a:noFill/>
          <a:ln/>
        </p:spPr>
        <p:txBody>
          <a:bodyPr wrap="square" lIns="0" tIns="0" rIns="0" bIns="0" rtlCol="0" anchor="t">
            <a:normAutofit/>
          </a:bodyPr>
          <a:lstStyle/>
          <a:p>
            <a:pPr marL="0" indent="0" algn="l">
              <a:lnSpc>
                <a:spcPts val="3600"/>
              </a:lnSpc>
              <a:buNone/>
            </a:pPr>
            <a:r>
              <a:rPr lang="en-US" sz="3600" b="1" dirty="0">
                <a:latin typeface="Roboto Black" pitchFamily="18" charset="0"/>
                <a:ea typeface="Roboto Black" pitchFamily="18" charset="-122"/>
                <a:cs typeface="Roboto Black" pitchFamily="18" charset="-120"/>
              </a:rPr>
              <a:t>1958</a:t>
            </a:r>
            <a:endParaRPr lang="en-US" sz="3600" b="1" dirty="0"/>
          </a:p>
        </p:txBody>
      </p:sp>
      <p:sp>
        <p:nvSpPr>
          <p:cNvPr id="14" name="Text 12"/>
          <p:cNvSpPr/>
          <p:nvPr/>
        </p:nvSpPr>
        <p:spPr>
          <a:xfrm>
            <a:off x="6457950" y="3506391"/>
            <a:ext cx="2027555" cy="269230"/>
          </a:xfrm>
          <a:prstGeom prst="rect">
            <a:avLst/>
          </a:prstGeom>
          <a:noFill/>
          <a:ln/>
        </p:spPr>
        <p:txBody>
          <a:bodyPr wrap="square" lIns="0" tIns="0" rIns="0" bIns="0" rtlCol="0" anchor="t">
            <a:normAutofit/>
          </a:bodyPr>
          <a:lstStyle/>
          <a:p>
            <a:pPr marL="0" indent="0" algn="l">
              <a:lnSpc>
                <a:spcPts val="1920"/>
              </a:lnSpc>
              <a:buNone/>
            </a:pPr>
            <a:r>
              <a:rPr lang="en-US" sz="1600" b="1" dirty="0">
                <a:latin typeface="Roboto Black" pitchFamily="34" charset="0"/>
                <a:ea typeface="Roboto Black" pitchFamily="34" charset="-122"/>
                <a:cs typeface="Roboto Black" pitchFamily="34" charset="-120"/>
              </a:rPr>
              <a:t>Dorothy Vaughan</a:t>
            </a:r>
            <a:endParaRPr lang="en-US" sz="1600" b="1" dirty="0"/>
          </a:p>
        </p:txBody>
      </p:sp>
      <p:sp>
        <p:nvSpPr>
          <p:cNvPr id="15" name="Text 13"/>
          <p:cNvSpPr/>
          <p:nvPr/>
        </p:nvSpPr>
        <p:spPr>
          <a:xfrm>
            <a:off x="6457950" y="3851821"/>
            <a:ext cx="2027555" cy="772071"/>
          </a:xfrm>
          <a:prstGeom prst="rect">
            <a:avLst/>
          </a:prstGeom>
          <a:noFill/>
          <a:ln/>
        </p:spPr>
        <p:txBody>
          <a:bodyPr wrap="square" lIns="0" tIns="0" rIns="0" bIns="0" rtlCol="0" anchor="t">
            <a:normAutofit/>
          </a:bodyPr>
          <a:lstStyle/>
          <a:p>
            <a:pPr marL="0" indent="0" algn="l">
              <a:lnSpc>
                <a:spcPts val="1960"/>
              </a:lnSpc>
              <a:buNone/>
            </a:pPr>
            <a:r>
              <a:rPr lang="en-US" sz="1400" b="1" dirty="0">
                <a:latin typeface="Roboto Black" pitchFamily="34" charset="0"/>
                <a:ea typeface="Roboto Black" pitchFamily="34" charset="-122"/>
                <a:cs typeface="Roboto Black" pitchFamily="34" charset="-120"/>
              </a:rPr>
              <a:t>Aprende FORTRAN y lleva a su equipo al nuevo rol.</a:t>
            </a:r>
            <a:endParaRPr lang="en-US" sz="1400" b="1" dirty="0"/>
          </a:p>
        </p:txBody>
      </p:sp>
      <p:sp>
        <p:nvSpPr>
          <p:cNvPr id="16" name="Shape 14"/>
          <p:cNvSpPr/>
          <p:nvPr/>
        </p:nvSpPr>
        <p:spPr>
          <a:xfrm>
            <a:off x="8893175" y="2690416"/>
            <a:ext cx="2482850" cy="2414141"/>
          </a:xfrm>
          <a:prstGeom prst="roundRect">
            <a:avLst>
              <a:gd name="adj" fmla="val 4077"/>
            </a:avLst>
          </a:prstGeom>
          <a:solidFill>
            <a:schemeClr val="bg1"/>
          </a:solidFill>
          <a:ln w="6350">
            <a:solidFill>
              <a:srgbClr val="172033"/>
            </a:solidFill>
            <a:prstDash val="solid"/>
          </a:ln>
        </p:spPr>
        <p:txBody>
          <a:bodyPr/>
          <a:lstStyle/>
          <a:p>
            <a:endParaRPr lang="es-MX" b="1">
              <a:solidFill>
                <a:schemeClr val="accent4"/>
              </a:solidFill>
            </a:endParaRPr>
          </a:p>
        </p:txBody>
      </p:sp>
      <p:sp>
        <p:nvSpPr>
          <p:cNvPr id="17" name="Text 15"/>
          <p:cNvSpPr/>
          <p:nvPr/>
        </p:nvSpPr>
        <p:spPr>
          <a:xfrm>
            <a:off x="9150350" y="2947591"/>
            <a:ext cx="2027555"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chemeClr val="accent4"/>
                </a:solidFill>
                <a:latin typeface="Roboto Black" pitchFamily="18" charset="0"/>
                <a:ea typeface="Roboto Black" pitchFamily="18" charset="-122"/>
                <a:cs typeface="Roboto Black" pitchFamily="18" charset="-120"/>
              </a:rPr>
              <a:t>1962</a:t>
            </a:r>
            <a:endParaRPr lang="en-US" sz="3600" b="1" dirty="0">
              <a:solidFill>
                <a:schemeClr val="accent4"/>
              </a:solidFill>
            </a:endParaRPr>
          </a:p>
        </p:txBody>
      </p:sp>
      <p:sp>
        <p:nvSpPr>
          <p:cNvPr id="18" name="Text 16"/>
          <p:cNvSpPr/>
          <p:nvPr/>
        </p:nvSpPr>
        <p:spPr>
          <a:xfrm>
            <a:off x="9150350" y="3506391"/>
            <a:ext cx="202755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chemeClr val="accent4"/>
                </a:solidFill>
                <a:latin typeface="Roboto Black" pitchFamily="34" charset="0"/>
                <a:ea typeface="Roboto Black" pitchFamily="34" charset="-122"/>
                <a:cs typeface="Roboto Black" pitchFamily="34" charset="-120"/>
              </a:rPr>
              <a:t>Katherine Johnson</a:t>
            </a:r>
            <a:endParaRPr lang="en-US" sz="1600" b="1" dirty="0">
              <a:solidFill>
                <a:schemeClr val="accent4"/>
              </a:solidFill>
            </a:endParaRPr>
          </a:p>
        </p:txBody>
      </p:sp>
      <p:sp>
        <p:nvSpPr>
          <p:cNvPr id="19" name="Text 17"/>
          <p:cNvSpPr/>
          <p:nvPr/>
        </p:nvSpPr>
        <p:spPr>
          <a:xfrm>
            <a:off x="9150350" y="3851821"/>
            <a:ext cx="2027555"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chemeClr val="accent4"/>
                </a:solidFill>
                <a:latin typeface="Roboto Black" pitchFamily="34" charset="0"/>
                <a:ea typeface="Roboto Black" pitchFamily="34" charset="-122"/>
                <a:cs typeface="Roboto Black" pitchFamily="34" charset="-120"/>
              </a:rPr>
              <a:t>Verifica a la máquina antes del vuelo.</a:t>
            </a:r>
            <a:endParaRPr lang="en-US" sz="1400" b="1" dirty="0">
              <a:solidFill>
                <a:schemeClr val="accent4"/>
              </a:solidFill>
            </a:endParaRPr>
          </a:p>
        </p:txBody>
      </p:sp>
      <p:sp>
        <p:nvSpPr>
          <p:cNvPr id="20" name="Text 18"/>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676"/>
                </a:solidFill>
                <a:latin typeface="Roboto Black" pitchFamily="34" charset="0"/>
                <a:ea typeface="Roboto Black" pitchFamily="34" charset="-122"/>
                <a:cs typeface="Roboto Black" pitchFamily="34" charset="-120"/>
              </a:rPr>
              <a:t>Fuentes: Grier (2005), When Computers Were Human; Shetterly (2016); ETHW; NASA.</a:t>
            </a:r>
            <a:endParaRPr lang="en-US" sz="1200" b="1" dirty="0"/>
          </a:p>
        </p:txBody>
      </p:sp>
    </p:spTree>
    <p:extLst>
      <p:ext uri="{BB962C8B-B14F-4D97-AF65-F5344CB8AC3E}">
        <p14:creationId xmlns:p14="http://schemas.microsoft.com/office/powerpoint/2010/main" val="2924619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tx1"/>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prstGeom prst="rect">
            <a:avLst/>
          </a:prstGeom>
          <a:noFill/>
          <a:ln/>
        </p:spPr>
        <p:txBody>
          <a:bodyPr wrap="square" lIns="0" tIns="0" rIns="0" bIns="0" rtlCol="0" anchor="t">
            <a:normAutofit/>
          </a:bodyPr>
          <a:lstStyle/>
          <a:p>
            <a:pPr marL="0" indent="0" algn="l">
              <a:lnSpc>
                <a:spcPts val="4140"/>
              </a:lnSpc>
              <a:buNone/>
            </a:pPr>
            <a:r>
              <a:rPr lang="en-US" sz="3600" b="1" i="0" dirty="0">
                <a:solidFill>
                  <a:schemeClr val="accent4"/>
                </a:solidFill>
                <a:latin typeface="Roboto Black" pitchFamily="18" charset="0"/>
                <a:ea typeface="Roboto Black" pitchFamily="18" charset="-122"/>
                <a:cs typeface="Roboto Black" pitchFamily="18" charset="-120"/>
              </a:rPr>
              <a:t>ROL = RESPONSABILIDADES + ACTIVIDADES</a:t>
            </a:r>
            <a:endParaRPr lang="en-US" sz="3600" b="1" dirty="0">
              <a:solidFill>
                <a:schemeClr val="accent4"/>
              </a:solidFill>
            </a:endParaRPr>
          </a:p>
        </p:txBody>
      </p:sp>
      <p:sp>
        <p:nvSpPr>
          <p:cNvPr id="4" name="Shape 2"/>
          <p:cNvSpPr/>
          <p:nvPr/>
        </p:nvSpPr>
        <p:spPr>
          <a:xfrm>
            <a:off x="815975" y="2164655"/>
            <a:ext cx="5175250" cy="2383730"/>
          </a:xfrm>
          <a:prstGeom prst="roundRect">
            <a:avLst>
              <a:gd name="adj" fmla="val 4129"/>
            </a:avLst>
          </a:prstGeom>
          <a:solidFill>
            <a:srgbClr val="FFFDF8"/>
          </a:solidFill>
          <a:ln w="6350">
            <a:solidFill>
              <a:srgbClr val="E2DDD1"/>
            </a:solidFill>
            <a:prstDash val="solid"/>
          </a:ln>
        </p:spPr>
        <p:txBody>
          <a:bodyPr/>
          <a:lstStyle/>
          <a:p>
            <a:endParaRPr lang="es-MX" b="1"/>
          </a:p>
        </p:txBody>
      </p:sp>
      <p:sp>
        <p:nvSpPr>
          <p:cNvPr id="5" name="Text 3"/>
          <p:cNvSpPr/>
          <p:nvPr/>
        </p:nvSpPr>
        <p:spPr>
          <a:xfrm>
            <a:off x="1123950" y="2472630"/>
            <a:ext cx="4696079"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9541C"/>
                </a:solidFill>
                <a:latin typeface="Roboto Black" pitchFamily="34" charset="0"/>
                <a:ea typeface="Roboto Black" pitchFamily="34" charset="-122"/>
                <a:cs typeface="Roboto Black" pitchFamily="34" charset="-120"/>
              </a:rPr>
              <a:t>SE PUEDE DELEGAR</a:t>
            </a:r>
            <a:endParaRPr lang="en-US" sz="1200" b="1" dirty="0"/>
          </a:p>
        </p:txBody>
      </p:sp>
      <p:sp>
        <p:nvSpPr>
          <p:cNvPr id="6" name="Text 4"/>
          <p:cNvSpPr/>
          <p:nvPr/>
        </p:nvSpPr>
        <p:spPr>
          <a:xfrm>
            <a:off x="1123950" y="2838351"/>
            <a:ext cx="4696079"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72033"/>
                </a:solidFill>
                <a:latin typeface="Roboto Black" pitchFamily="34" charset="0"/>
                <a:ea typeface="Roboto Black" pitchFamily="34" charset="-122"/>
                <a:cs typeface="Roboto Black" pitchFamily="34" charset="-120"/>
              </a:rPr>
              <a:t>Actividades</a:t>
            </a:r>
            <a:endParaRPr lang="en-US" sz="2200" b="1" dirty="0"/>
          </a:p>
        </p:txBody>
      </p:sp>
      <p:sp>
        <p:nvSpPr>
          <p:cNvPr id="7" name="Text 5"/>
          <p:cNvSpPr/>
          <p:nvPr/>
        </p:nvSpPr>
        <p:spPr>
          <a:xfrm>
            <a:off x="1194308" y="3326011"/>
            <a:ext cx="4618101" cy="939800"/>
          </a:xfrm>
          <a:prstGeom prst="rect">
            <a:avLst/>
          </a:prstGeom>
          <a:noFill/>
          <a:ln/>
        </p:spPr>
        <p:txBody>
          <a:bodyPr wrap="square" lIns="0" tIns="0" rIns="0" bIns="0" rtlCol="0" anchor="t">
            <a:normAutofit/>
          </a:bodyPr>
          <a:lstStyle/>
          <a:p>
            <a:pPr marL="183642" indent="-183642" algn="l">
              <a:lnSpc>
                <a:spcPts val="2400"/>
              </a:lnSpc>
              <a:buSzPct val="100000"/>
              <a:buChar char="•"/>
            </a:pPr>
            <a:r>
              <a:rPr lang="en-US" sz="1600" b="1" dirty="0">
                <a:solidFill>
                  <a:srgbClr val="3A4356"/>
                </a:solidFill>
                <a:latin typeface="Roboto Black" pitchFamily="34" charset="0"/>
                <a:ea typeface="Roboto Black" pitchFamily="34" charset="-122"/>
                <a:cs typeface="Roboto Black" pitchFamily="34" charset="-120"/>
              </a:rPr>
              <a:t>Analizar y comparar</a:t>
            </a:r>
            <a:endParaRPr lang="en-US" sz="1600" b="1" dirty="0"/>
          </a:p>
          <a:p>
            <a:pPr marL="183642" indent="-183642" algn="l">
              <a:lnSpc>
                <a:spcPts val="2400"/>
              </a:lnSpc>
              <a:buSzPct val="100000"/>
              <a:buChar char="•"/>
            </a:pPr>
            <a:r>
              <a:rPr lang="en-US" sz="1600" b="1" dirty="0">
                <a:solidFill>
                  <a:srgbClr val="3A4356"/>
                </a:solidFill>
                <a:latin typeface="Roboto Black" pitchFamily="34" charset="0"/>
                <a:ea typeface="Roboto Black" pitchFamily="34" charset="-122"/>
                <a:cs typeface="Roboto Black" pitchFamily="34" charset="-120"/>
              </a:rPr>
              <a:t>Redactar borradores</a:t>
            </a:r>
            <a:endParaRPr lang="en-US" sz="1600" b="1" dirty="0"/>
          </a:p>
          <a:p>
            <a:pPr marL="183642" indent="-183642" algn="l">
              <a:lnSpc>
                <a:spcPts val="2400"/>
              </a:lnSpc>
              <a:buSzPct val="100000"/>
              <a:buChar char="•"/>
            </a:pPr>
            <a:r>
              <a:rPr lang="en-US" sz="1600" b="1" dirty="0">
                <a:solidFill>
                  <a:srgbClr val="3A4356"/>
                </a:solidFill>
                <a:latin typeface="Roboto Black" pitchFamily="34" charset="0"/>
                <a:ea typeface="Roboto Black" pitchFamily="34" charset="-122"/>
                <a:cs typeface="Roboto Black" pitchFamily="34" charset="-120"/>
              </a:rPr>
              <a:t>Ejecutar tareas acotadas</a:t>
            </a:r>
            <a:endParaRPr lang="en-US" sz="1600" b="1" dirty="0"/>
          </a:p>
        </p:txBody>
      </p:sp>
      <p:sp>
        <p:nvSpPr>
          <p:cNvPr id="8" name="Shape 6"/>
          <p:cNvSpPr/>
          <p:nvPr/>
        </p:nvSpPr>
        <p:spPr>
          <a:xfrm>
            <a:off x="6200775" y="2164655"/>
            <a:ext cx="5175250" cy="2383730"/>
          </a:xfrm>
          <a:prstGeom prst="roundRect">
            <a:avLst>
              <a:gd name="adj" fmla="val 4129"/>
            </a:avLst>
          </a:prstGeom>
          <a:solidFill>
            <a:schemeClr val="bg1"/>
          </a:solidFill>
          <a:ln w="6350">
            <a:solidFill>
              <a:srgbClr val="172033"/>
            </a:solidFill>
            <a:prstDash val="solid"/>
          </a:ln>
        </p:spPr>
        <p:txBody>
          <a:bodyPr/>
          <a:lstStyle/>
          <a:p>
            <a:endParaRPr lang="es-MX" b="1"/>
          </a:p>
        </p:txBody>
      </p:sp>
      <p:sp>
        <p:nvSpPr>
          <p:cNvPr id="9" name="Text 7"/>
          <p:cNvSpPr/>
          <p:nvPr/>
        </p:nvSpPr>
        <p:spPr>
          <a:xfrm>
            <a:off x="6508750" y="2472630"/>
            <a:ext cx="4696079"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8894F"/>
                </a:solidFill>
                <a:latin typeface="Roboto Black" pitchFamily="34" charset="0"/>
                <a:ea typeface="Roboto Black" pitchFamily="34" charset="-122"/>
                <a:cs typeface="Roboto Black" pitchFamily="34" charset="-120"/>
              </a:rPr>
              <a:t>NO SE DELEGA</a:t>
            </a:r>
            <a:endParaRPr lang="en-US" sz="1200" b="1" dirty="0"/>
          </a:p>
        </p:txBody>
      </p:sp>
      <p:sp>
        <p:nvSpPr>
          <p:cNvPr id="10" name="Text 8"/>
          <p:cNvSpPr/>
          <p:nvPr/>
        </p:nvSpPr>
        <p:spPr>
          <a:xfrm>
            <a:off x="6508750" y="2838351"/>
            <a:ext cx="4696079"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chemeClr val="accent5">
                    <a:lumMod val="50000"/>
                  </a:schemeClr>
                </a:solidFill>
                <a:latin typeface="Roboto Black" pitchFamily="34" charset="0"/>
                <a:ea typeface="Roboto Black" pitchFamily="34" charset="-122"/>
                <a:cs typeface="Roboto Black" pitchFamily="34" charset="-120"/>
              </a:rPr>
              <a:t>Responsabilidades</a:t>
            </a:r>
            <a:endParaRPr lang="en-US" sz="2200" b="1" dirty="0">
              <a:solidFill>
                <a:schemeClr val="accent5">
                  <a:lumMod val="50000"/>
                </a:schemeClr>
              </a:solidFill>
            </a:endParaRPr>
          </a:p>
        </p:txBody>
      </p:sp>
      <p:sp>
        <p:nvSpPr>
          <p:cNvPr id="11" name="Text 9"/>
          <p:cNvSpPr/>
          <p:nvPr/>
        </p:nvSpPr>
        <p:spPr>
          <a:xfrm>
            <a:off x="6579108" y="3326011"/>
            <a:ext cx="4618101" cy="939800"/>
          </a:xfrm>
          <a:prstGeom prst="rect">
            <a:avLst/>
          </a:prstGeom>
          <a:noFill/>
          <a:ln/>
        </p:spPr>
        <p:txBody>
          <a:bodyPr wrap="square" lIns="0" tIns="0" rIns="0" bIns="0" rtlCol="0" anchor="t">
            <a:normAutofit/>
          </a:bodyPr>
          <a:lstStyle/>
          <a:p>
            <a:pPr marL="183642" indent="-183642" algn="l">
              <a:lnSpc>
                <a:spcPts val="2400"/>
              </a:lnSpc>
              <a:buSzPct val="100000"/>
              <a:buChar char="•"/>
            </a:pPr>
            <a:r>
              <a:rPr lang="en-US" sz="1600" b="1" dirty="0">
                <a:solidFill>
                  <a:schemeClr val="accent5">
                    <a:lumMod val="50000"/>
                  </a:schemeClr>
                </a:solidFill>
                <a:latin typeface="Roboto Black" pitchFamily="34" charset="0"/>
                <a:ea typeface="Roboto Black" pitchFamily="34" charset="-122"/>
                <a:cs typeface="Roboto Black" pitchFamily="34" charset="-120"/>
              </a:rPr>
              <a:t>Decidir qué se hace y por qué</a:t>
            </a:r>
            <a:endParaRPr lang="en-US" sz="1600" b="1" dirty="0">
              <a:solidFill>
                <a:schemeClr val="accent5">
                  <a:lumMod val="50000"/>
                </a:schemeClr>
              </a:solidFill>
            </a:endParaRPr>
          </a:p>
          <a:p>
            <a:pPr marL="183642" indent="-183642" algn="l">
              <a:lnSpc>
                <a:spcPts val="2400"/>
              </a:lnSpc>
              <a:buSzPct val="100000"/>
              <a:buChar char="•"/>
            </a:pPr>
            <a:r>
              <a:rPr lang="en-US" sz="1600" b="1" dirty="0">
                <a:solidFill>
                  <a:schemeClr val="accent5">
                    <a:lumMod val="50000"/>
                  </a:schemeClr>
                </a:solidFill>
                <a:latin typeface="Roboto Black" pitchFamily="34" charset="0"/>
                <a:ea typeface="Roboto Black" pitchFamily="34" charset="-122"/>
                <a:cs typeface="Roboto Black" pitchFamily="34" charset="-120"/>
              </a:rPr>
              <a:t>Responder por el resultado</a:t>
            </a:r>
            <a:endParaRPr lang="en-US" sz="1600" b="1" dirty="0">
              <a:solidFill>
                <a:schemeClr val="accent5">
                  <a:lumMod val="50000"/>
                </a:schemeClr>
              </a:solidFill>
            </a:endParaRPr>
          </a:p>
          <a:p>
            <a:pPr marL="183642" indent="-183642" algn="l">
              <a:lnSpc>
                <a:spcPts val="2400"/>
              </a:lnSpc>
              <a:buSzPct val="100000"/>
              <a:buChar char="•"/>
            </a:pPr>
            <a:r>
              <a:rPr lang="en-US" sz="1600" b="1" dirty="0">
                <a:solidFill>
                  <a:schemeClr val="accent5">
                    <a:lumMod val="50000"/>
                  </a:schemeClr>
                </a:solidFill>
                <a:latin typeface="Roboto Black" pitchFamily="34" charset="0"/>
                <a:ea typeface="Roboto Black" pitchFamily="34" charset="-122"/>
                <a:cs typeface="Roboto Black" pitchFamily="34" charset="-120"/>
              </a:rPr>
              <a:t>Tener autoridad para detener</a:t>
            </a:r>
            <a:endParaRPr lang="en-US" sz="1600" b="1" dirty="0">
              <a:solidFill>
                <a:schemeClr val="accent5">
                  <a:lumMod val="50000"/>
                </a:schemeClr>
              </a:solidFill>
            </a:endParaRPr>
          </a:p>
        </p:txBody>
      </p:sp>
    </p:spTree>
    <p:extLst>
      <p:ext uri="{BB962C8B-B14F-4D97-AF65-F5344CB8AC3E}">
        <p14:creationId xmlns:p14="http://schemas.microsoft.com/office/powerpoint/2010/main" val="615248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300" dirty="0">
                <a:solidFill>
                  <a:srgbClr val="2C7A78"/>
                </a:solidFill>
                <a:latin typeface="Roboto Black" pitchFamily="34" charset="0"/>
                <a:ea typeface="Roboto Black" pitchFamily="34" charset="-122"/>
                <a:cs typeface="Roboto Black" pitchFamily="34" charset="-120"/>
              </a:rPr>
              <a:t>EL PROBLEMA</a:t>
            </a:r>
            <a:endParaRPr lang="en-US" sz="1200" b="1" dirty="0"/>
          </a:p>
        </p:txBody>
      </p:sp>
      <p:sp>
        <p:nvSpPr>
          <p:cNvPr id="3" name="Text 1"/>
          <p:cNvSpPr/>
          <p:nvPr/>
        </p:nvSpPr>
        <p:spPr>
          <a:xfrm>
            <a:off x="812800" y="1229320"/>
            <a:ext cx="10883392" cy="2057400"/>
          </a:xfrm>
          <a:prstGeom prst="rect">
            <a:avLst/>
          </a:prstGeom>
          <a:noFill/>
          <a:ln/>
        </p:spPr>
        <p:txBody>
          <a:bodyPr wrap="square" lIns="0" tIns="0" rIns="0" bIns="0" rtlCol="0" anchor="t">
            <a:normAutofit/>
          </a:bodyPr>
          <a:lstStyle/>
          <a:p>
            <a:pPr marL="0" indent="0" algn="l">
              <a:lnSpc>
                <a:spcPts val="16000"/>
              </a:lnSpc>
              <a:buNone/>
            </a:pPr>
            <a:r>
              <a:rPr lang="en-US" sz="16000" b="1" dirty="0">
                <a:solidFill>
                  <a:srgbClr val="B9541C"/>
                </a:solidFill>
                <a:latin typeface="Roboto Black" pitchFamily="18" charset="0"/>
                <a:ea typeface="Roboto Black" pitchFamily="18" charset="-122"/>
                <a:cs typeface="Roboto Black" pitchFamily="18" charset="-120"/>
              </a:rPr>
              <a:t>74%</a:t>
            </a:r>
            <a:endParaRPr lang="en-US" sz="16000" b="1" dirty="0"/>
          </a:p>
        </p:txBody>
      </p:sp>
      <p:sp>
        <p:nvSpPr>
          <p:cNvPr id="4" name="Text 2"/>
          <p:cNvSpPr/>
          <p:nvPr/>
        </p:nvSpPr>
        <p:spPr>
          <a:xfrm>
            <a:off x="812799" y="3464520"/>
            <a:ext cx="10121089" cy="1340944"/>
          </a:xfrm>
          <a:prstGeom prst="rect">
            <a:avLst/>
          </a:prstGeom>
          <a:noFill/>
          <a:ln/>
        </p:spPr>
        <p:txBody>
          <a:bodyPr wrap="square" lIns="0" tIns="0" rIns="0" bIns="0" rtlCol="0" anchor="t">
            <a:normAutofit/>
          </a:bodyPr>
          <a:lstStyle/>
          <a:p>
            <a:pPr marL="0" indent="0" algn="l">
              <a:lnSpc>
                <a:spcPts val="2970"/>
              </a:lnSpc>
              <a:buNone/>
            </a:pPr>
            <a:r>
              <a:rPr lang="en-US" sz="2800" b="1" dirty="0">
                <a:solidFill>
                  <a:schemeClr val="bg1"/>
                </a:solidFill>
                <a:latin typeface="Roboto Black" pitchFamily="34" charset="0"/>
                <a:ea typeface="Roboto Black" pitchFamily="34" charset="-122"/>
                <a:cs typeface="Roboto Black" pitchFamily="34" charset="-120"/>
              </a:rPr>
              <a:t>de las empresas todavía no obtiene valor tangible de la IA.</a:t>
            </a:r>
            <a:endParaRPr lang="en-US" sz="2800" b="1" dirty="0">
              <a:solidFill>
                <a:schemeClr val="bg1"/>
              </a:solidFill>
            </a:endParaRPr>
          </a:p>
        </p:txBody>
      </p:sp>
      <p:sp>
        <p:nvSpPr>
          <p:cNvPr id="5" name="Text 3"/>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676"/>
                </a:solidFill>
                <a:latin typeface="Roboto Black" pitchFamily="34" charset="0"/>
                <a:ea typeface="Roboto Black" pitchFamily="34" charset="-122"/>
                <a:cs typeface="Roboto Black" pitchFamily="34" charset="-120"/>
              </a:rPr>
              <a:t>Fuente: BCG (2024), Where's the Value in AI? Encuesta a 1,000 ejecutivos.</a:t>
            </a:r>
            <a:endParaRPr lang="en-US" sz="1200" b="1" dirty="0"/>
          </a:p>
        </p:txBody>
      </p:sp>
    </p:spTree>
    <p:extLst>
      <p:ext uri="{BB962C8B-B14F-4D97-AF65-F5344CB8AC3E}">
        <p14:creationId xmlns:p14="http://schemas.microsoft.com/office/powerpoint/2010/main" val="1204322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300" dirty="0">
                <a:solidFill>
                  <a:srgbClr val="2C7A78"/>
                </a:solidFill>
                <a:latin typeface="Roboto Black" pitchFamily="34" charset="0"/>
                <a:ea typeface="Roboto Black" pitchFamily="34" charset="-122"/>
                <a:cs typeface="Roboto Black" pitchFamily="34" charset="-120"/>
              </a:rPr>
              <a:t>DÓNDE ESTÁ EL VALOR</a:t>
            </a:r>
            <a:endParaRPr lang="en-US" sz="1200" b="1" dirty="0"/>
          </a:p>
        </p:txBody>
      </p:sp>
      <p:sp>
        <p:nvSpPr>
          <p:cNvPr id="3" name="Text 1"/>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4140"/>
              </a:lnSpc>
              <a:buNone/>
            </a:pPr>
            <a:r>
              <a:rPr lang="en-US" sz="4000" b="1" i="0" dirty="0">
                <a:solidFill>
                  <a:srgbClr val="172033"/>
                </a:solidFill>
                <a:latin typeface="Roboto Black" pitchFamily="18" charset="0"/>
                <a:ea typeface="Roboto Black" pitchFamily="18" charset="-122"/>
                <a:cs typeface="Roboto Black" pitchFamily="18" charset="-120"/>
              </a:rPr>
              <a:t>El 70% del reto está en las personas y los procesos</a:t>
            </a:r>
            <a:endParaRPr lang="en-US" sz="4000" b="1" dirty="0"/>
          </a:p>
        </p:txBody>
      </p:sp>
      <p:sp>
        <p:nvSpPr>
          <p:cNvPr id="4" name="Shape 2"/>
          <p:cNvSpPr/>
          <p:nvPr/>
        </p:nvSpPr>
        <p:spPr>
          <a:xfrm>
            <a:off x="812800" y="2687241"/>
            <a:ext cx="1320800" cy="1178520"/>
          </a:xfrm>
          <a:prstGeom prst="roundRect">
            <a:avLst>
              <a:gd name="adj" fmla="val 8621"/>
            </a:avLst>
          </a:prstGeom>
          <a:solidFill>
            <a:srgbClr val="E2DDD1"/>
          </a:solidFill>
          <a:ln/>
        </p:spPr>
        <p:txBody>
          <a:bodyPr/>
          <a:lstStyle/>
          <a:p>
            <a:endParaRPr lang="es-MX" b="1"/>
          </a:p>
        </p:txBody>
      </p:sp>
      <p:sp>
        <p:nvSpPr>
          <p:cNvPr id="5" name="Text 3"/>
          <p:cNvSpPr/>
          <p:nvPr/>
        </p:nvSpPr>
        <p:spPr>
          <a:xfrm>
            <a:off x="1016000" y="2890441"/>
            <a:ext cx="109728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2033"/>
                </a:solidFill>
                <a:latin typeface="Roboto Black" pitchFamily="18" charset="0"/>
                <a:ea typeface="Roboto Black" pitchFamily="18" charset="-122"/>
                <a:cs typeface="Roboto Black" pitchFamily="18" charset="-120"/>
              </a:rPr>
              <a:t>10%</a:t>
            </a:r>
            <a:endParaRPr lang="en-US" sz="3600" b="1" dirty="0"/>
          </a:p>
        </p:txBody>
      </p:sp>
      <p:sp>
        <p:nvSpPr>
          <p:cNvPr id="6" name="Text 4"/>
          <p:cNvSpPr/>
          <p:nvPr/>
        </p:nvSpPr>
        <p:spPr>
          <a:xfrm>
            <a:off x="1016000" y="3449241"/>
            <a:ext cx="965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A4356"/>
                </a:solidFill>
                <a:latin typeface="Roboto Black" pitchFamily="34" charset="0"/>
                <a:ea typeface="Roboto Black" pitchFamily="34" charset="-122"/>
                <a:cs typeface="Roboto Black" pitchFamily="34" charset="-120"/>
              </a:rPr>
              <a:t>Algoritmos</a:t>
            </a:r>
            <a:endParaRPr lang="en-US" sz="1200" b="1" dirty="0"/>
          </a:p>
        </p:txBody>
      </p:sp>
      <p:sp>
        <p:nvSpPr>
          <p:cNvPr id="7" name="Shape 5"/>
          <p:cNvSpPr/>
          <p:nvPr/>
        </p:nvSpPr>
        <p:spPr>
          <a:xfrm>
            <a:off x="2235200" y="2687241"/>
            <a:ext cx="2235200" cy="1178520"/>
          </a:xfrm>
          <a:prstGeom prst="roundRect">
            <a:avLst>
              <a:gd name="adj" fmla="val 8621"/>
            </a:avLst>
          </a:prstGeom>
          <a:solidFill>
            <a:srgbClr val="CFC8B8"/>
          </a:solidFill>
          <a:ln/>
        </p:spPr>
        <p:txBody>
          <a:bodyPr/>
          <a:lstStyle/>
          <a:p>
            <a:endParaRPr lang="es-MX" b="1"/>
          </a:p>
        </p:txBody>
      </p:sp>
      <p:sp>
        <p:nvSpPr>
          <p:cNvPr id="8" name="Text 6"/>
          <p:cNvSpPr/>
          <p:nvPr/>
        </p:nvSpPr>
        <p:spPr>
          <a:xfrm>
            <a:off x="2438400" y="2890441"/>
            <a:ext cx="188366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2033"/>
                </a:solidFill>
                <a:latin typeface="Roboto Black" pitchFamily="18" charset="0"/>
                <a:ea typeface="Roboto Black" pitchFamily="18" charset="-122"/>
                <a:cs typeface="Roboto Black" pitchFamily="18" charset="-120"/>
              </a:rPr>
              <a:t>20%</a:t>
            </a:r>
            <a:endParaRPr lang="en-US" sz="3600" b="1" dirty="0"/>
          </a:p>
        </p:txBody>
      </p:sp>
      <p:sp>
        <p:nvSpPr>
          <p:cNvPr id="9" name="Text 7"/>
          <p:cNvSpPr/>
          <p:nvPr/>
        </p:nvSpPr>
        <p:spPr>
          <a:xfrm>
            <a:off x="2438400" y="3449241"/>
            <a:ext cx="188366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A4356"/>
                </a:solidFill>
                <a:latin typeface="Roboto Black" pitchFamily="34" charset="0"/>
                <a:ea typeface="Roboto Black" pitchFamily="34" charset="-122"/>
                <a:cs typeface="Roboto Black" pitchFamily="34" charset="-120"/>
              </a:rPr>
              <a:t>Tecnología y datos</a:t>
            </a:r>
            <a:endParaRPr lang="en-US" sz="1200" b="1" dirty="0"/>
          </a:p>
        </p:txBody>
      </p:sp>
      <p:sp>
        <p:nvSpPr>
          <p:cNvPr id="10" name="Shape 8"/>
          <p:cNvSpPr/>
          <p:nvPr/>
        </p:nvSpPr>
        <p:spPr>
          <a:xfrm>
            <a:off x="4572000" y="2687241"/>
            <a:ext cx="6807200" cy="1178520"/>
          </a:xfrm>
          <a:prstGeom prst="roundRect">
            <a:avLst>
              <a:gd name="adj" fmla="val 8621"/>
            </a:avLst>
          </a:prstGeom>
          <a:solidFill>
            <a:srgbClr val="172033"/>
          </a:solidFill>
          <a:ln/>
        </p:spPr>
        <p:txBody>
          <a:bodyPr/>
          <a:lstStyle/>
          <a:p>
            <a:endParaRPr lang="es-MX" b="1"/>
          </a:p>
        </p:txBody>
      </p:sp>
      <p:sp>
        <p:nvSpPr>
          <p:cNvPr id="11" name="Text 9"/>
          <p:cNvSpPr/>
          <p:nvPr/>
        </p:nvSpPr>
        <p:spPr>
          <a:xfrm>
            <a:off x="4775200" y="2890441"/>
            <a:ext cx="659282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E8894F"/>
                </a:solidFill>
                <a:latin typeface="Roboto Black" pitchFamily="18" charset="0"/>
                <a:ea typeface="Roboto Black" pitchFamily="18" charset="-122"/>
                <a:cs typeface="Roboto Black" pitchFamily="18" charset="-120"/>
              </a:rPr>
              <a:t>70%</a:t>
            </a:r>
            <a:endParaRPr lang="en-US" sz="3600" b="1" dirty="0"/>
          </a:p>
        </p:txBody>
      </p:sp>
      <p:sp>
        <p:nvSpPr>
          <p:cNvPr id="12" name="Text 10"/>
          <p:cNvSpPr/>
          <p:nvPr/>
        </p:nvSpPr>
        <p:spPr>
          <a:xfrm>
            <a:off x="4775200" y="3449241"/>
            <a:ext cx="659282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4E6EB"/>
                </a:solidFill>
                <a:latin typeface="Roboto Black" pitchFamily="34" charset="0"/>
                <a:ea typeface="Roboto Black" pitchFamily="34" charset="-122"/>
                <a:cs typeface="Roboto Black" pitchFamily="34" charset="-120"/>
              </a:rPr>
              <a:t>Personas y procesos</a:t>
            </a:r>
            <a:endParaRPr lang="en-US" sz="1200" b="1" dirty="0"/>
          </a:p>
        </p:txBody>
      </p:sp>
      <p:sp>
        <p:nvSpPr>
          <p:cNvPr id="13" name="Text 11"/>
          <p:cNvSpPr/>
          <p:nvPr/>
        </p:nvSpPr>
        <p:spPr>
          <a:xfrm>
            <a:off x="812800" y="4170561"/>
            <a:ext cx="9156700" cy="320030"/>
          </a:xfrm>
          <a:prstGeom prst="rect">
            <a:avLst/>
          </a:prstGeom>
          <a:noFill/>
          <a:ln/>
        </p:spPr>
        <p:txBody>
          <a:bodyPr wrap="square" lIns="0" tIns="0" rIns="0" bIns="0" rtlCol="0" anchor="t">
            <a:normAutofit/>
          </a:bodyPr>
          <a:lstStyle/>
          <a:p>
            <a:pPr marL="0" indent="0" algn="l">
              <a:lnSpc>
                <a:spcPts val="2320"/>
              </a:lnSpc>
              <a:buNone/>
            </a:pPr>
            <a:r>
              <a:rPr lang="en-US" sz="1600" b="1" dirty="0">
                <a:solidFill>
                  <a:srgbClr val="3A4356"/>
                </a:solidFill>
                <a:latin typeface="Roboto Black" pitchFamily="34" charset="0"/>
                <a:ea typeface="Roboto Black" pitchFamily="34" charset="-122"/>
                <a:cs typeface="Roboto Black" pitchFamily="34" charset="-120"/>
              </a:rPr>
              <a:t>La IA amplifica lo que ya existe: las fortalezas del equipo y también sus disfunciones.</a:t>
            </a:r>
            <a:endParaRPr lang="en-US" sz="1600" b="1" dirty="0"/>
          </a:p>
        </p:txBody>
      </p:sp>
      <p:sp>
        <p:nvSpPr>
          <p:cNvPr id="14" name="Text 12"/>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676"/>
                </a:solidFill>
                <a:latin typeface="Roboto Black" pitchFamily="34" charset="0"/>
                <a:ea typeface="Roboto Black" pitchFamily="34" charset="-122"/>
                <a:cs typeface="Roboto Black" pitchFamily="34" charset="-120"/>
              </a:rPr>
              <a:t>Fuentes: BCG (2024); DORA (2025), Estado del desarrollo de software asistido por IA.</a:t>
            </a:r>
            <a:endParaRPr lang="en-US" sz="1200" b="1" dirty="0"/>
          </a:p>
        </p:txBody>
      </p:sp>
    </p:spTree>
    <p:extLst>
      <p:ext uri="{BB962C8B-B14F-4D97-AF65-F5344CB8AC3E}">
        <p14:creationId xmlns:p14="http://schemas.microsoft.com/office/powerpoint/2010/main" val="3177153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812800" y="2072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300" dirty="0">
                <a:solidFill>
                  <a:srgbClr val="E8894F"/>
                </a:solidFill>
                <a:latin typeface="Roboto Black" pitchFamily="34" charset="0"/>
                <a:ea typeface="Roboto Black" pitchFamily="34" charset="-122"/>
                <a:cs typeface="Roboto Black" pitchFamily="34" charset="-120"/>
              </a:rPr>
              <a:t>UNA PREGUNTA PARA USTEDES</a:t>
            </a:r>
            <a:endParaRPr lang="en-US" sz="1200" b="1" dirty="0"/>
          </a:p>
        </p:txBody>
      </p:sp>
      <p:sp>
        <p:nvSpPr>
          <p:cNvPr id="3" name="Text 1"/>
          <p:cNvSpPr/>
          <p:nvPr/>
        </p:nvSpPr>
        <p:spPr>
          <a:xfrm>
            <a:off x="812800" y="2590800"/>
            <a:ext cx="10883900" cy="1076920"/>
          </a:xfrm>
          <a:prstGeom prst="rect">
            <a:avLst/>
          </a:prstGeom>
          <a:noFill/>
          <a:ln/>
        </p:spPr>
        <p:txBody>
          <a:bodyPr wrap="square" lIns="0" tIns="0" rIns="0" bIns="0" rtlCol="0" anchor="t">
            <a:normAutofit/>
          </a:bodyPr>
          <a:lstStyle/>
          <a:p>
            <a:pPr marL="0" indent="0" algn="l">
              <a:lnSpc>
                <a:spcPts val="4140"/>
              </a:lnSpc>
              <a:buNone/>
            </a:pPr>
            <a:r>
              <a:rPr lang="en-US" sz="3600" b="1" dirty="0">
                <a:solidFill>
                  <a:srgbClr val="C9CDD6"/>
                </a:solidFill>
                <a:latin typeface="Roboto Black" pitchFamily="18" charset="0"/>
                <a:ea typeface="Roboto Black" pitchFamily="18" charset="-122"/>
                <a:cs typeface="Roboto Black" pitchFamily="18" charset="-120"/>
              </a:rPr>
              <a:t>Piensen en un proceso de su área que ya usa IA.</a:t>
            </a:r>
            <a:endParaRPr lang="en-US" sz="3600" b="1" dirty="0"/>
          </a:p>
        </p:txBody>
      </p:sp>
      <p:sp>
        <p:nvSpPr>
          <p:cNvPr id="4" name="Text 2"/>
          <p:cNvSpPr/>
          <p:nvPr/>
        </p:nvSpPr>
        <p:spPr>
          <a:xfrm>
            <a:off x="812800" y="3947120"/>
            <a:ext cx="11379200" cy="863600"/>
          </a:xfrm>
          <a:prstGeom prst="rect">
            <a:avLst/>
          </a:prstGeom>
          <a:noFill/>
          <a:ln/>
        </p:spPr>
        <p:txBody>
          <a:bodyPr wrap="square" lIns="0" tIns="0" rIns="0" bIns="0" rtlCol="0" anchor="t">
            <a:normAutofit fontScale="85000" lnSpcReduction="10000"/>
          </a:bodyPr>
          <a:lstStyle/>
          <a:p>
            <a:pPr marL="0" indent="0" algn="l">
              <a:lnSpc>
                <a:spcPts val="6600"/>
              </a:lnSpc>
              <a:buNone/>
            </a:pPr>
            <a:r>
              <a:rPr lang="en-US" sz="6000" b="1" dirty="0">
                <a:solidFill>
                  <a:srgbClr val="E8894F"/>
                </a:solidFill>
                <a:latin typeface="Roboto Black" pitchFamily="18" charset="0"/>
                <a:ea typeface="Roboto Black" pitchFamily="18" charset="-122"/>
                <a:cs typeface="Roboto Black" pitchFamily="18" charset="-120"/>
              </a:rPr>
              <a:t>Si se equivoca, ¿QUIÉN DA LA CARA?</a:t>
            </a:r>
            <a:endParaRPr lang="en-US" sz="6000" b="1" dirty="0"/>
          </a:p>
        </p:txBody>
      </p:sp>
      <p:sp>
        <p:nvSpPr>
          <p:cNvPr id="5" name="Título 4">
            <a:extLst>
              <a:ext uri="{FF2B5EF4-FFF2-40B4-BE49-F238E27FC236}">
                <a16:creationId xmlns:a16="http://schemas.microsoft.com/office/drawing/2014/main" id="{25DAC246-F6DF-AE25-DDDA-E14D203F4114}"/>
              </a:ext>
            </a:extLst>
          </p:cNvPr>
          <p:cNvSpPr>
            <a:spLocks noGrp="1"/>
          </p:cNvSpPr>
          <p:nvPr>
            <p:ph type="title"/>
          </p:nvPr>
        </p:nvSpPr>
        <p:spPr/>
        <p:txBody>
          <a:bodyPr/>
          <a:lstStyle/>
          <a:p>
            <a:endParaRPr lang="es-MX" b="1"/>
          </a:p>
        </p:txBody>
      </p:sp>
      <p:sp>
        <p:nvSpPr>
          <p:cNvPr id="6" name="Marcador de texto 5">
            <a:extLst>
              <a:ext uri="{FF2B5EF4-FFF2-40B4-BE49-F238E27FC236}">
                <a16:creationId xmlns:a16="http://schemas.microsoft.com/office/drawing/2014/main" id="{4BC63188-30DC-1130-5553-D1008B6AFE12}"/>
              </a:ext>
            </a:extLst>
          </p:cNvPr>
          <p:cNvSpPr>
            <a:spLocks noGrp="1"/>
          </p:cNvSpPr>
          <p:nvPr>
            <p:ph type="body" idx="101"/>
          </p:nvPr>
        </p:nvSpPr>
        <p:spPr/>
        <p:txBody>
          <a:bodyPr/>
          <a:lstStyle/>
          <a:p>
            <a:endParaRPr lang="es-MX" b="1"/>
          </a:p>
        </p:txBody>
      </p:sp>
    </p:spTree>
    <p:extLst>
      <p:ext uri="{BB962C8B-B14F-4D97-AF65-F5344CB8AC3E}">
        <p14:creationId xmlns:p14="http://schemas.microsoft.com/office/powerpoint/2010/main" val="2504337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300" dirty="0">
                <a:solidFill>
                  <a:srgbClr val="2C7A78"/>
                </a:solidFill>
                <a:latin typeface="Roboto Black" pitchFamily="34" charset="0"/>
                <a:ea typeface="Roboto Black" pitchFamily="34" charset="-122"/>
                <a:cs typeface="Roboto Black" pitchFamily="34" charset="-120"/>
              </a:rPr>
              <a:t>UN EJEMPLO: FINANZAS</a:t>
            </a:r>
            <a:endParaRPr lang="en-US" sz="1200" b="1" dirty="0"/>
          </a:p>
        </p:txBody>
      </p:sp>
      <p:sp>
        <p:nvSpPr>
          <p:cNvPr id="3" name="Text 1"/>
          <p:cNvSpPr>
            <a:spLocks noGrp="1"/>
          </p:cNvSpPr>
          <p:nvPr>
            <p:ph type="title"/>
          </p:nvPr>
        </p:nvSpPr>
        <p:spPr>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72033"/>
                </a:solidFill>
                <a:latin typeface="Roboto Black" pitchFamily="18" charset="0"/>
                <a:ea typeface="Roboto Black" pitchFamily="18" charset="-122"/>
                <a:cs typeface="Roboto Black" pitchFamily="18" charset="-120"/>
              </a:rPr>
              <a:t>Cambia quién ejecuta, no quién responde</a:t>
            </a:r>
            <a:endParaRPr lang="en-US" sz="3600" b="1" dirty="0"/>
          </a:p>
        </p:txBody>
      </p:sp>
      <p:graphicFrame>
        <p:nvGraphicFramePr>
          <p:cNvPr id="4" name="Table 0"/>
          <p:cNvGraphicFramePr>
            <a:graphicFrameLocks noGrp="1"/>
          </p:cNvGraphicFramePr>
          <p:nvPr/>
        </p:nvGraphicFramePr>
        <p:xfrm>
          <a:off x="825500" y="2174180"/>
          <a:ext cx="10553700" cy="2501800"/>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500360">
                <a:tc>
                  <a:txBody>
                    <a:bodyPr/>
                    <a:lstStyle/>
                    <a:p>
                      <a:pPr marL="0" indent="0">
                        <a:lnSpc>
                          <a:spcPts val="2240"/>
                        </a:lnSpc>
                        <a:buNone/>
                      </a:pPr>
                      <a:r>
                        <a:rPr lang="en-US" sz="1600" b="1" dirty="0">
                          <a:solidFill>
                            <a:srgbClr val="5F6676"/>
                          </a:solidFill>
                          <a:latin typeface="Roboto Black" pitchFamily="34" charset="0"/>
                          <a:ea typeface="Roboto Black" pitchFamily="34" charset="-122"/>
                          <a:cs typeface="Roboto Black" pitchFamily="34" charset="-120"/>
                        </a:rPr>
                        <a:t>ACTIVIDAD</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2240"/>
                        </a:lnSpc>
                        <a:buNone/>
                      </a:pPr>
                      <a:r>
                        <a:rPr lang="en-US" sz="1600" b="1" dirty="0">
                          <a:solidFill>
                            <a:srgbClr val="5F6676"/>
                          </a:solidFill>
                          <a:latin typeface="Roboto Black" pitchFamily="34" charset="0"/>
                          <a:ea typeface="Roboto Black" pitchFamily="34" charset="-122"/>
                          <a:cs typeface="Roboto Black" pitchFamily="34" charset="-120"/>
                        </a:rPr>
                        <a:t>QUIÉN EJECUTA</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2240"/>
                        </a:lnSpc>
                        <a:buNone/>
                      </a:pPr>
                      <a:r>
                        <a:rPr lang="en-US" sz="1600" b="1" dirty="0">
                          <a:solidFill>
                            <a:srgbClr val="B9541C"/>
                          </a:solidFill>
                          <a:latin typeface="Roboto Black" pitchFamily="34" charset="0"/>
                          <a:ea typeface="Roboto Black" pitchFamily="34" charset="-122"/>
                          <a:cs typeface="Roboto Black" pitchFamily="34" charset="-120"/>
                        </a:rPr>
                        <a:t>QUIÉN RESPONDE</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500360">
                <a:tc>
                  <a:txBody>
                    <a:bodyPr/>
                    <a:lstStyle/>
                    <a:p>
                      <a:pPr marL="0" indent="0">
                        <a:lnSpc>
                          <a:spcPts val="2240"/>
                        </a:lnSpc>
                        <a:buNone/>
                      </a:pPr>
                      <a:r>
                        <a:rPr lang="en-US" sz="1600" b="1" dirty="0">
                          <a:solidFill>
                            <a:srgbClr val="172033"/>
                          </a:solidFill>
                          <a:latin typeface="Roboto Black" pitchFamily="34" charset="0"/>
                          <a:ea typeface="Roboto Black" pitchFamily="34" charset="-122"/>
                          <a:cs typeface="Roboto Black" pitchFamily="34" charset="-120"/>
                        </a:rPr>
                        <a:t>Calcular y conciliar montos contra órdenes de compra</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240"/>
                        </a:lnSpc>
                        <a:buNone/>
                      </a:pPr>
                      <a:r>
                        <a:rPr lang="en-US" sz="1600" b="1" dirty="0">
                          <a:solidFill>
                            <a:srgbClr val="3A4356"/>
                          </a:solidFill>
                          <a:latin typeface="Roboto Black" pitchFamily="34" charset="0"/>
                          <a:ea typeface="Roboto Black" pitchFamily="34" charset="-122"/>
                          <a:cs typeface="Roboto Black" pitchFamily="34" charset="-120"/>
                        </a:rPr>
                        <a:t>Sistema (reglas, sin IA)</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240"/>
                        </a:lnSpc>
                        <a:buNone/>
                      </a:pPr>
                      <a:r>
                        <a:rPr lang="en-US" sz="1600" b="1" dirty="0">
                          <a:solidFill>
                            <a:srgbClr val="172033"/>
                          </a:solidFill>
                          <a:latin typeface="Roboto Black" pitchFamily="34" charset="0"/>
                          <a:ea typeface="Roboto Black" pitchFamily="34" charset="-122"/>
                          <a:cs typeface="Roboto Black" pitchFamily="34" charset="-120"/>
                        </a:rPr>
                        <a:t>Gerente de finanzas</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500360">
                <a:tc>
                  <a:txBody>
                    <a:bodyPr/>
                    <a:lstStyle/>
                    <a:p>
                      <a:pPr marL="0" indent="0">
                        <a:lnSpc>
                          <a:spcPts val="2240"/>
                        </a:lnSpc>
                        <a:buNone/>
                      </a:pPr>
                      <a:r>
                        <a:rPr lang="en-US" sz="1600" b="1" dirty="0">
                          <a:solidFill>
                            <a:srgbClr val="172033"/>
                          </a:solidFill>
                          <a:latin typeface="Roboto Black" pitchFamily="34" charset="0"/>
                          <a:ea typeface="Roboto Black" pitchFamily="34" charset="-122"/>
                          <a:cs typeface="Roboto Black" pitchFamily="34" charset="-120"/>
                        </a:rPr>
                        <a:t>Explicar discrepancias y redactar el resumen de flujo de caja</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240"/>
                        </a:lnSpc>
                        <a:buNone/>
                      </a:pPr>
                      <a:r>
                        <a:rPr lang="en-US" sz="1600" b="1" dirty="0">
                          <a:solidFill>
                            <a:srgbClr val="3A4356"/>
                          </a:solidFill>
                          <a:latin typeface="Roboto Black" pitchFamily="34" charset="0"/>
                          <a:ea typeface="Roboto Black" pitchFamily="34" charset="-122"/>
                          <a:cs typeface="Roboto Black" pitchFamily="34" charset="-120"/>
                        </a:rPr>
                        <a:t>IA asistida</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240"/>
                        </a:lnSpc>
                        <a:buNone/>
                      </a:pPr>
                      <a:r>
                        <a:rPr lang="en-US" sz="1600" b="1" dirty="0">
                          <a:solidFill>
                            <a:srgbClr val="172033"/>
                          </a:solidFill>
                          <a:latin typeface="Roboto Black" pitchFamily="34" charset="0"/>
                          <a:ea typeface="Roboto Black" pitchFamily="34" charset="-122"/>
                          <a:cs typeface="Roboto Black" pitchFamily="34" charset="-120"/>
                        </a:rPr>
                        <a:t>Gerente de finanzas</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500360">
                <a:tc>
                  <a:txBody>
                    <a:bodyPr/>
                    <a:lstStyle/>
                    <a:p>
                      <a:pPr marL="0" indent="0">
                        <a:lnSpc>
                          <a:spcPts val="2240"/>
                        </a:lnSpc>
                        <a:buNone/>
                      </a:pPr>
                      <a:r>
                        <a:rPr lang="en-US" sz="1600" b="1" dirty="0">
                          <a:solidFill>
                            <a:srgbClr val="172033"/>
                          </a:solidFill>
                          <a:latin typeface="Roboto Black" pitchFamily="34" charset="0"/>
                          <a:ea typeface="Roboto Black" pitchFamily="34" charset="-122"/>
                          <a:cs typeface="Roboto Black" pitchFamily="34" charset="-120"/>
                        </a:rPr>
                        <a:t>Negociar plazos de pago con proveedores clave</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240"/>
                        </a:lnSpc>
                        <a:buNone/>
                      </a:pPr>
                      <a:r>
                        <a:rPr lang="en-US" sz="1600" b="1" dirty="0">
                          <a:solidFill>
                            <a:srgbClr val="3A4356"/>
                          </a:solidFill>
                          <a:latin typeface="Roboto Black" pitchFamily="34" charset="0"/>
                          <a:ea typeface="Roboto Black" pitchFamily="34" charset="-122"/>
                          <a:cs typeface="Roboto Black" pitchFamily="34" charset="-120"/>
                        </a:rPr>
                        <a:t>Persona</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240"/>
                        </a:lnSpc>
                        <a:buNone/>
                      </a:pPr>
                      <a:r>
                        <a:rPr lang="en-US" sz="1600" b="1" dirty="0">
                          <a:solidFill>
                            <a:srgbClr val="172033"/>
                          </a:solidFill>
                          <a:latin typeface="Roboto Black" pitchFamily="34" charset="0"/>
                          <a:ea typeface="Roboto Black" pitchFamily="34" charset="-122"/>
                          <a:cs typeface="Roboto Black" pitchFamily="34" charset="-120"/>
                        </a:rPr>
                        <a:t>Gerente de finanzas</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500360">
                <a:tc>
                  <a:txBody>
                    <a:bodyPr/>
                    <a:lstStyle/>
                    <a:p>
                      <a:pPr marL="0" indent="0">
                        <a:lnSpc>
                          <a:spcPts val="2240"/>
                        </a:lnSpc>
                        <a:buNone/>
                      </a:pPr>
                      <a:r>
                        <a:rPr lang="en-US" sz="1600" b="1" dirty="0">
                          <a:solidFill>
                            <a:srgbClr val="172033"/>
                          </a:solidFill>
                          <a:latin typeface="Roboto Black" pitchFamily="34" charset="0"/>
                          <a:ea typeface="Roboto Black" pitchFamily="34" charset="-122"/>
                          <a:cs typeface="Roboto Black" pitchFamily="34" charset="-120"/>
                        </a:rPr>
                        <a:t>Autorizar pagos y definir la política de aprobación</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240"/>
                        </a:lnSpc>
                        <a:buNone/>
                      </a:pPr>
                      <a:r>
                        <a:rPr lang="en-US" sz="1600" b="1" dirty="0">
                          <a:solidFill>
                            <a:srgbClr val="3A4356"/>
                          </a:solidFill>
                          <a:latin typeface="Roboto Black" pitchFamily="34" charset="0"/>
                          <a:ea typeface="Roboto Black" pitchFamily="34" charset="-122"/>
                          <a:cs typeface="Roboto Black" pitchFamily="34" charset="-120"/>
                        </a:rPr>
                        <a:t>Persona</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240"/>
                        </a:lnSpc>
                        <a:buNone/>
                      </a:pPr>
                      <a:r>
                        <a:rPr lang="en-US" sz="1600" b="1" dirty="0">
                          <a:solidFill>
                            <a:srgbClr val="172033"/>
                          </a:solidFill>
                          <a:latin typeface="Roboto Black" pitchFamily="34" charset="0"/>
                          <a:ea typeface="Roboto Black" pitchFamily="34" charset="-122"/>
                          <a:cs typeface="Roboto Black" pitchFamily="34" charset="-120"/>
                        </a:rPr>
                        <a:t>Director de finanzas</a:t>
                      </a:r>
                      <a:endParaRPr lang="en-US" sz="1600" b="1" dirty="0">
                        <a:latin typeface="Roboto Black" charset="0"/>
                        <a:ea typeface="Roboto Black" charset="0"/>
                        <a:cs typeface="Roboto Black" charset="0"/>
                      </a:endParaRPr>
                    </a:p>
                  </a:txBody>
                  <a:tcPr marL="152400" marR="152400" marT="101600" marB="1016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676"/>
                </a:solidFill>
                <a:latin typeface="Roboto Black" pitchFamily="34" charset="0"/>
                <a:ea typeface="Roboto Black" pitchFamily="34" charset="-122"/>
                <a:cs typeface="Roboto Black" pitchFamily="34" charset="-120"/>
              </a:rPr>
              <a:t>Ejemplo ilustrativo. La columna “Quién responde” nunca contiene un agente.</a:t>
            </a:r>
            <a:endParaRPr lang="en-US" sz="1200" b="1" dirty="0"/>
          </a:p>
        </p:txBody>
      </p:sp>
    </p:spTree>
    <p:extLst>
      <p:ext uri="{BB962C8B-B14F-4D97-AF65-F5344CB8AC3E}">
        <p14:creationId xmlns:p14="http://schemas.microsoft.com/office/powerpoint/2010/main" val="1344877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pic>
        <p:nvPicPr>
          <p:cNvPr id="8" name="Imagen 7" descr="Hidden Figures' No More: Meet The Black Women Who Helped Send America To  Space | KUNC">
            <a:extLst>
              <a:ext uri="{FF2B5EF4-FFF2-40B4-BE49-F238E27FC236}">
                <a16:creationId xmlns:a16="http://schemas.microsoft.com/office/drawing/2014/main" id="{2C677D56-2996-A890-6936-E203ADCF3DA5}"/>
              </a:ext>
            </a:extLst>
          </p:cNvPr>
          <p:cNvPicPr>
            <a:picLocks noChangeAspect="1"/>
          </p:cNvPicPr>
          <p:nvPr/>
        </p:nvPicPr>
        <p:blipFill>
          <a:blip r:embed="rId3">
            <a:alphaModFix amt="35000"/>
          </a:blip>
          <a:stretch>
            <a:fillRect/>
          </a:stretch>
        </p:blipFill>
        <p:spPr>
          <a:xfrm>
            <a:off x="-50800" y="0"/>
            <a:ext cx="12192000" cy="6818275"/>
          </a:xfrm>
          <a:prstGeom prst="rect">
            <a:avLst/>
          </a:prstGeom>
          <a:solidFill>
            <a:schemeClr val="bg2">
              <a:lumMod val="10000"/>
            </a:schemeClr>
          </a:solidFill>
        </p:spPr>
      </p:pic>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300" dirty="0">
                <a:solidFill>
                  <a:srgbClr val="2C7A78"/>
                </a:solidFill>
                <a:latin typeface="Roboto Black" pitchFamily="34" charset="0"/>
                <a:ea typeface="Roboto Black" pitchFamily="34" charset="-122"/>
                <a:cs typeface="Roboto Black" pitchFamily="34" charset="-120"/>
              </a:rPr>
              <a:t>AUTOLIDERAZGO</a:t>
            </a:r>
            <a:endParaRPr lang="en-US" sz="1200" b="1" dirty="0"/>
          </a:p>
        </p:txBody>
      </p:sp>
      <p:sp>
        <p:nvSpPr>
          <p:cNvPr id="3" name="Text 1"/>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4140"/>
              </a:lnSpc>
              <a:buNone/>
            </a:pPr>
            <a:r>
              <a:rPr lang="en-US" sz="4400" b="1" i="0" dirty="0">
                <a:solidFill>
                  <a:schemeClr val="bg1"/>
                </a:solidFill>
                <a:latin typeface="Roboto Black" pitchFamily="18" charset="0"/>
                <a:ea typeface="Roboto Black" pitchFamily="18" charset="-122"/>
                <a:cs typeface="Roboto Black" pitchFamily="18" charset="-120"/>
              </a:rPr>
              <a:t>Dorothy Vaughan vio llegar la IBM.</a:t>
            </a:r>
            <a:endParaRPr lang="en-US" sz="4400" b="1" dirty="0">
              <a:solidFill>
                <a:schemeClr val="bg1"/>
              </a:solidFill>
            </a:endParaRPr>
          </a:p>
        </p:txBody>
      </p:sp>
      <p:sp>
        <p:nvSpPr>
          <p:cNvPr id="4" name="Text 2"/>
          <p:cNvSpPr/>
          <p:nvPr/>
        </p:nvSpPr>
        <p:spPr>
          <a:xfrm>
            <a:off x="812800" y="2161480"/>
            <a:ext cx="9156700" cy="779760"/>
          </a:xfrm>
          <a:prstGeom prst="rect">
            <a:avLst/>
          </a:prstGeom>
          <a:noFill/>
          <a:ln/>
        </p:spPr>
        <p:txBody>
          <a:bodyPr wrap="square" lIns="0" tIns="0" rIns="0" bIns="0" rtlCol="0" anchor="t">
            <a:normAutofit/>
          </a:bodyPr>
          <a:lstStyle/>
          <a:p>
            <a:pPr marL="0" indent="0" algn="l">
              <a:lnSpc>
                <a:spcPts val="2970"/>
              </a:lnSpc>
              <a:buNone/>
            </a:pPr>
            <a:r>
              <a:rPr lang="en-US" sz="2800" b="1" dirty="0">
                <a:solidFill>
                  <a:schemeClr val="bg1"/>
                </a:solidFill>
                <a:latin typeface="Roboto Black" pitchFamily="34" charset="0"/>
                <a:ea typeface="Roboto Black" pitchFamily="34" charset="-122"/>
                <a:cs typeface="Roboto Black" pitchFamily="34" charset="-120"/>
              </a:rPr>
              <a:t>No esperó instrucciones. Aprendió FORTRAN por su cuenta y le enseñó a su equipo.</a:t>
            </a:r>
            <a:endParaRPr lang="en-US" sz="2800" b="1" dirty="0">
              <a:solidFill>
                <a:schemeClr val="bg1"/>
              </a:solidFill>
            </a:endParaRPr>
          </a:p>
        </p:txBody>
      </p:sp>
      <p:sp>
        <p:nvSpPr>
          <p:cNvPr id="5" name="Text 3"/>
          <p:cNvSpPr/>
          <p:nvPr/>
        </p:nvSpPr>
        <p:spPr>
          <a:xfrm>
            <a:off x="4022927" y="5157540"/>
            <a:ext cx="10883392" cy="551160"/>
          </a:xfrm>
          <a:prstGeom prst="rect">
            <a:avLst/>
          </a:prstGeom>
          <a:noFill/>
          <a:ln/>
        </p:spPr>
        <p:txBody>
          <a:bodyPr wrap="square" lIns="0" tIns="0" rIns="0" bIns="0" rtlCol="0" anchor="t">
            <a:normAutofit/>
          </a:bodyPr>
          <a:lstStyle/>
          <a:p>
            <a:pPr marL="0" indent="0" algn="l">
              <a:lnSpc>
                <a:spcPts val="4140"/>
              </a:lnSpc>
              <a:buNone/>
            </a:pPr>
            <a:r>
              <a:rPr lang="en-US" sz="4400" b="1" i="1" dirty="0">
                <a:solidFill>
                  <a:srgbClr val="B9541C"/>
                </a:solidFill>
                <a:latin typeface="Roboto Black" pitchFamily="18" charset="0"/>
                <a:ea typeface="Roboto Black" pitchFamily="18" charset="-122"/>
                <a:cs typeface="Roboto Black" pitchFamily="18" charset="-120"/>
              </a:rPr>
              <a:t>No perdió su lugar. Lo redefinió.</a:t>
            </a:r>
            <a:endParaRPr lang="en-US" sz="4400" b="1" dirty="0"/>
          </a:p>
        </p:txBody>
      </p:sp>
      <p:sp>
        <p:nvSpPr>
          <p:cNvPr id="6" name="Text 4"/>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676"/>
                </a:solidFill>
                <a:latin typeface="Roboto Black" pitchFamily="34" charset="0"/>
                <a:ea typeface="Roboto Black" pitchFamily="34" charset="-122"/>
                <a:cs typeface="Roboto Black" pitchFamily="34" charset="-120"/>
              </a:rPr>
              <a:t>Fuente: Shetterly (2016), Hidden Figures.</a:t>
            </a:r>
            <a:endParaRPr lang="en-US" sz="1200" b="1" dirty="0"/>
          </a:p>
        </p:txBody>
      </p:sp>
    </p:spTree>
    <p:extLst>
      <p:ext uri="{BB962C8B-B14F-4D97-AF65-F5344CB8AC3E}">
        <p14:creationId xmlns:p14="http://schemas.microsoft.com/office/powerpoint/2010/main" val="321462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300" dirty="0">
                <a:solidFill>
                  <a:srgbClr val="2C7A78"/>
                </a:solidFill>
                <a:latin typeface="Roboto Black" pitchFamily="34" charset="0"/>
                <a:ea typeface="Roboto Black" pitchFamily="34" charset="-122"/>
                <a:cs typeface="Roboto Black" pitchFamily="34" charset="-120"/>
              </a:rPr>
              <a:t>PARA EL LUNES</a:t>
            </a:r>
            <a:endParaRPr lang="en-US" sz="1200" b="1" dirty="0"/>
          </a:p>
        </p:txBody>
      </p:sp>
      <p:sp>
        <p:nvSpPr>
          <p:cNvPr id="3" name="Text 1"/>
          <p:cNvSpPr>
            <a:spLocks noGrp="1"/>
          </p:cNvSpPr>
          <p:nvPr>
            <p:ph type="title"/>
          </p:nvPr>
        </p:nvSpPr>
        <p:spPr>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72033"/>
                </a:solidFill>
                <a:latin typeface="Roboto Black" pitchFamily="18" charset="0"/>
                <a:ea typeface="Roboto Black" pitchFamily="18" charset="-122"/>
                <a:cs typeface="Roboto Black" pitchFamily="18" charset="-120"/>
              </a:rPr>
              <a:t>Tres preguntas para su próximo comité</a:t>
            </a:r>
            <a:endParaRPr lang="en-US" sz="3600" b="1" dirty="0"/>
          </a:p>
        </p:txBody>
      </p:sp>
      <p:sp>
        <p:nvSpPr>
          <p:cNvPr id="4" name="Shape 2"/>
          <p:cNvSpPr/>
          <p:nvPr/>
        </p:nvSpPr>
        <p:spPr>
          <a:xfrm>
            <a:off x="815975" y="2164655"/>
            <a:ext cx="3380284" cy="2619921"/>
          </a:xfrm>
          <a:prstGeom prst="roundRect">
            <a:avLst>
              <a:gd name="adj" fmla="val 3757"/>
            </a:avLst>
          </a:prstGeom>
          <a:solidFill>
            <a:srgbClr val="FFFDF8"/>
          </a:solidFill>
          <a:ln w="6350">
            <a:solidFill>
              <a:srgbClr val="E2DDD1"/>
            </a:solidFill>
            <a:prstDash val="solid"/>
          </a:ln>
        </p:spPr>
        <p:txBody>
          <a:bodyPr/>
          <a:lstStyle/>
          <a:p>
            <a:endParaRPr lang="es-MX" b="1"/>
          </a:p>
        </p:txBody>
      </p:sp>
      <p:sp>
        <p:nvSpPr>
          <p:cNvPr id="5" name="Text 3"/>
          <p:cNvSpPr/>
          <p:nvPr/>
        </p:nvSpPr>
        <p:spPr>
          <a:xfrm>
            <a:off x="1123950" y="2472630"/>
            <a:ext cx="284726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B9541C"/>
                </a:solidFill>
                <a:latin typeface="Roboto Black" pitchFamily="18" charset="0"/>
                <a:ea typeface="Roboto Black" pitchFamily="18" charset="-122"/>
                <a:cs typeface="Roboto Black" pitchFamily="18" charset="-120"/>
              </a:rPr>
              <a:t>1</a:t>
            </a:r>
            <a:endParaRPr lang="en-US" sz="6000" b="1" dirty="0"/>
          </a:p>
        </p:txBody>
      </p:sp>
      <p:sp>
        <p:nvSpPr>
          <p:cNvPr id="6" name="Text 4"/>
          <p:cNvSpPr/>
          <p:nvPr/>
        </p:nvSpPr>
        <p:spPr>
          <a:xfrm>
            <a:off x="1123950" y="3387030"/>
            <a:ext cx="2847264" cy="1114971"/>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172033"/>
                </a:solidFill>
                <a:latin typeface="Roboto Black" pitchFamily="34" charset="0"/>
                <a:ea typeface="Roboto Black" pitchFamily="34" charset="-122"/>
                <a:cs typeface="Roboto Black" pitchFamily="34" charset="-120"/>
              </a:rPr>
              <a:t>¿Qué actividades ya hace la IA en mi área?</a:t>
            </a:r>
            <a:endParaRPr lang="en-US" sz="2200" b="1" dirty="0"/>
          </a:p>
        </p:txBody>
      </p:sp>
      <p:sp>
        <p:nvSpPr>
          <p:cNvPr id="7" name="Shape 5"/>
          <p:cNvSpPr/>
          <p:nvPr/>
        </p:nvSpPr>
        <p:spPr>
          <a:xfrm>
            <a:off x="4405809" y="2164655"/>
            <a:ext cx="3380333" cy="2619921"/>
          </a:xfrm>
          <a:prstGeom prst="roundRect">
            <a:avLst>
              <a:gd name="adj" fmla="val 3757"/>
            </a:avLst>
          </a:prstGeom>
          <a:solidFill>
            <a:srgbClr val="FFFDF8"/>
          </a:solidFill>
          <a:ln w="6350">
            <a:solidFill>
              <a:srgbClr val="E2DDD1"/>
            </a:solidFill>
            <a:prstDash val="solid"/>
          </a:ln>
        </p:spPr>
        <p:txBody>
          <a:bodyPr/>
          <a:lstStyle/>
          <a:p>
            <a:endParaRPr lang="es-MX" b="1"/>
          </a:p>
        </p:txBody>
      </p:sp>
      <p:sp>
        <p:nvSpPr>
          <p:cNvPr id="8" name="Text 6"/>
          <p:cNvSpPr/>
          <p:nvPr/>
        </p:nvSpPr>
        <p:spPr>
          <a:xfrm>
            <a:off x="4713784" y="2472630"/>
            <a:ext cx="2847315"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B9541C"/>
                </a:solidFill>
                <a:latin typeface="Roboto Black" pitchFamily="18" charset="0"/>
                <a:ea typeface="Roboto Black" pitchFamily="18" charset="-122"/>
                <a:cs typeface="Roboto Black" pitchFamily="18" charset="-120"/>
              </a:rPr>
              <a:t>2</a:t>
            </a:r>
            <a:endParaRPr lang="en-US" sz="6000" b="1" dirty="0"/>
          </a:p>
        </p:txBody>
      </p:sp>
      <p:sp>
        <p:nvSpPr>
          <p:cNvPr id="9" name="Text 7"/>
          <p:cNvSpPr/>
          <p:nvPr/>
        </p:nvSpPr>
        <p:spPr>
          <a:xfrm>
            <a:off x="4713784" y="3387030"/>
            <a:ext cx="2847315" cy="1114971"/>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172033"/>
                </a:solidFill>
                <a:latin typeface="Roboto Black" pitchFamily="34" charset="0"/>
                <a:ea typeface="Roboto Black" pitchFamily="34" charset="-122"/>
                <a:cs typeface="Roboto Black" pitchFamily="34" charset="-120"/>
              </a:rPr>
              <a:t>¿Qué persona responde por cada una?</a:t>
            </a:r>
            <a:endParaRPr lang="en-US" sz="2200" b="1" dirty="0"/>
          </a:p>
        </p:txBody>
      </p:sp>
      <p:sp>
        <p:nvSpPr>
          <p:cNvPr id="10" name="Shape 8"/>
          <p:cNvSpPr/>
          <p:nvPr/>
        </p:nvSpPr>
        <p:spPr>
          <a:xfrm>
            <a:off x="7995692" y="2164655"/>
            <a:ext cx="3380333" cy="2619921"/>
          </a:xfrm>
          <a:prstGeom prst="roundRect">
            <a:avLst>
              <a:gd name="adj" fmla="val 3757"/>
            </a:avLst>
          </a:prstGeom>
          <a:solidFill>
            <a:srgbClr val="FFFDF8"/>
          </a:solidFill>
          <a:ln w="6350">
            <a:solidFill>
              <a:srgbClr val="E2DDD1"/>
            </a:solidFill>
            <a:prstDash val="solid"/>
          </a:ln>
        </p:spPr>
        <p:txBody>
          <a:bodyPr/>
          <a:lstStyle/>
          <a:p>
            <a:endParaRPr lang="es-MX" b="1"/>
          </a:p>
        </p:txBody>
      </p:sp>
      <p:sp>
        <p:nvSpPr>
          <p:cNvPr id="11" name="Text 9"/>
          <p:cNvSpPr/>
          <p:nvPr/>
        </p:nvSpPr>
        <p:spPr>
          <a:xfrm>
            <a:off x="8303667" y="2472630"/>
            <a:ext cx="2847315"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B9541C"/>
                </a:solidFill>
                <a:latin typeface="Roboto Black" pitchFamily="18" charset="0"/>
                <a:ea typeface="Roboto Black" pitchFamily="18" charset="-122"/>
                <a:cs typeface="Roboto Black" pitchFamily="18" charset="-120"/>
              </a:rPr>
              <a:t>3</a:t>
            </a:r>
            <a:endParaRPr lang="en-US" sz="6000" b="1" dirty="0"/>
          </a:p>
        </p:txBody>
      </p:sp>
      <p:sp>
        <p:nvSpPr>
          <p:cNvPr id="12" name="Text 10"/>
          <p:cNvSpPr/>
          <p:nvPr/>
        </p:nvSpPr>
        <p:spPr>
          <a:xfrm>
            <a:off x="8303667" y="3387030"/>
            <a:ext cx="2847315" cy="1114971"/>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172033"/>
                </a:solidFill>
                <a:latin typeface="Roboto Black" pitchFamily="34" charset="0"/>
                <a:ea typeface="Roboto Black" pitchFamily="34" charset="-122"/>
                <a:cs typeface="Roboto Black" pitchFamily="34" charset="-120"/>
              </a:rPr>
              <a:t>¿Quién tiene autoridad para detenerla?</a:t>
            </a:r>
            <a:endParaRPr lang="en-US" sz="2200" b="1" dirty="0"/>
          </a:p>
        </p:txBody>
      </p:sp>
    </p:spTree>
    <p:extLst>
      <p:ext uri="{BB962C8B-B14F-4D97-AF65-F5344CB8AC3E}">
        <p14:creationId xmlns:p14="http://schemas.microsoft.com/office/powerpoint/2010/main" val="3418545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812800" y="1811040"/>
            <a:ext cx="9810750" cy="1076920"/>
          </a:xfrm>
          <a:prstGeom prst="rect">
            <a:avLst/>
          </a:prstGeom>
          <a:noFill/>
          <a:ln/>
        </p:spPr>
        <p:txBody>
          <a:bodyPr wrap="square" lIns="0" tIns="0" rIns="0" bIns="0" rtlCol="0" anchor="t">
            <a:normAutofit/>
          </a:bodyPr>
          <a:lstStyle/>
          <a:p>
            <a:pPr marL="0" indent="0" algn="l">
              <a:lnSpc>
                <a:spcPts val="4140"/>
              </a:lnSpc>
              <a:buNone/>
            </a:pPr>
            <a:r>
              <a:rPr lang="en-US" sz="3600" b="1" dirty="0">
                <a:solidFill>
                  <a:srgbClr val="C9CDD6"/>
                </a:solidFill>
                <a:latin typeface="Roboto Black" pitchFamily="18" charset="0"/>
                <a:ea typeface="Roboto Black" pitchFamily="18" charset="-122"/>
                <a:cs typeface="Roboto Black" pitchFamily="18" charset="-120"/>
              </a:rPr>
              <a:t>En 1962, una persona respondió por la máquina.</a:t>
            </a:r>
            <a:endParaRPr lang="en-US" sz="3600" b="1" dirty="0"/>
          </a:p>
        </p:txBody>
      </p:sp>
      <p:sp>
        <p:nvSpPr>
          <p:cNvPr id="3" name="Text 1"/>
          <p:cNvSpPr/>
          <p:nvPr/>
        </p:nvSpPr>
        <p:spPr>
          <a:xfrm>
            <a:off x="812800" y="3167360"/>
            <a:ext cx="10883392" cy="17018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E8894F"/>
                </a:solidFill>
                <a:latin typeface="Roboto Black" pitchFamily="18" charset="0"/>
                <a:ea typeface="Roboto Black" pitchFamily="18" charset="-122"/>
                <a:cs typeface="Roboto Black" pitchFamily="18" charset="-120"/>
              </a:rPr>
              <a:t>Hoy, los computers somos todos.</a:t>
            </a:r>
            <a:endParaRPr lang="en-US" sz="6000" b="1" dirty="0"/>
          </a:p>
        </p:txBody>
      </p:sp>
      <p:sp>
        <p:nvSpPr>
          <p:cNvPr id="4"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A1B0"/>
                </a:solidFill>
                <a:latin typeface="Roboto Black" pitchFamily="34" charset="0"/>
                <a:ea typeface="Roboto Black" pitchFamily="34" charset="-122"/>
                <a:cs typeface="Roboto Black" pitchFamily="34" charset="-120"/>
              </a:rPr>
              <a:t>Alan Estrada · Gobernanza de IA</a:t>
            </a:r>
            <a:endParaRPr lang="en-US" sz="1200" b="1" dirty="0"/>
          </a:p>
        </p:txBody>
      </p:sp>
    </p:spTree>
    <p:extLst>
      <p:ext uri="{BB962C8B-B14F-4D97-AF65-F5344CB8AC3E}">
        <p14:creationId xmlns:p14="http://schemas.microsoft.com/office/powerpoint/2010/main" val="78972605"/>
      </p:ext>
    </p:extLst>
  </p:cSld>
  <p:clrMapOvr>
    <a:masterClrMapping/>
  </p:clrMapOvr>
</p:sld>
</file>

<file path=ppt/theme/theme1.xml><?xml version="1.0" encoding="utf-8"?>
<a:theme xmlns:a="http://schemas.openxmlformats.org/drawingml/2006/main" name="Gobernanza de IA · ¿Quién firma? [1791779812261]">
  <a:themeElements>
    <a:clrScheme name="Gobernanza de IA · ¿Quién firma?">
      <a:dk1>
        <a:srgbClr val="172033"/>
      </a:dk1>
      <a:lt1>
        <a:srgbClr val="F6F4EE"/>
      </a:lt1>
      <a:dk2>
        <a:srgbClr val="4F5562"/>
      </a:dk2>
      <a:lt2>
        <a:srgbClr val="E0DFDB"/>
      </a:lt2>
      <a:accent1>
        <a:srgbClr val="B9541C"/>
      </a:accent1>
      <a:accent2>
        <a:srgbClr val="2C7A78"/>
      </a:accent2>
      <a:accent3>
        <a:srgbClr val="E8894F"/>
      </a:accent3>
      <a:accent4>
        <a:srgbClr val="E07A3A"/>
      </a:accent4>
      <a:accent5>
        <a:srgbClr val="3A4356"/>
      </a:accent5>
      <a:accent6>
        <a:srgbClr val="5F6676"/>
      </a:accent6>
      <a:hlink>
        <a:srgbClr val="0563C1"/>
      </a:hlink>
      <a:folHlink>
        <a:srgbClr val="954F72"/>
      </a:folHlink>
    </a:clrScheme>
    <a:fontScheme name="Gobernanza de IA · ¿Quién firma?">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9C70603-3A91-9B41-8AC0-B1209D46DB4D}">
  <we:reference id="wa200010001" version="1.0.0.1" store="en-US" storeType="OMEX"/>
  <we:alternateReferences>
    <we:reference id="wa200010001" version="1.0.0.1" store="en-US" storeType="OMEX"/>
  </we:alternateReferences>
  <we:properties>
    <we:property name="claude.fileId" value="&quot;a3daa2ba-e55e-4f54-9927-c0f95ff7081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58</TotalTime>
  <Words>1385</Words>
  <Application>Microsoft Macintosh PowerPoint</Application>
  <PresentationFormat>Panorámica</PresentationFormat>
  <Paragraphs>113</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Roboto Black</vt:lpstr>
      <vt:lpstr>Gobernanza de IA · ¿Quién firma? [1791779812261]</vt:lpstr>
      <vt:lpstr>¿QUIÉN DA LA CARA?</vt:lpstr>
      <vt:lpstr>UNA COMPUTADORA IBM YA HABÍA CALCULADO  LA ÓRBITA DE JOHN GLENN.</vt:lpstr>
      <vt:lpstr>Presentación de PowerPoint</vt:lpstr>
      <vt:lpstr>La actividad bajó a la máquina.  La responsabilidad subió de nivel.</vt:lpstr>
      <vt:lpstr>ROL = RESPONSABILIDADES + ACTIVIDADES</vt:lpstr>
      <vt:lpstr>Presentación de PowerPoint</vt:lpstr>
      <vt:lpstr>El 70% del reto está en las personas y los procesos</vt:lpstr>
      <vt:lpstr>Presentación de PowerPoint</vt:lpstr>
      <vt:lpstr>Cambia quién ejecuta, no quién responde</vt:lpstr>
      <vt:lpstr>Dorothy Vaughan vio llegar la IBM.</vt:lpstr>
      <vt:lpstr>Tres preguntas para su próximo comité</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Gobernanza de IA · ¿Quién firma?</dc:title>
  <dc:subject/>
  <dc:creator/>
  <cp:lastModifiedBy>celiia contreras</cp:lastModifiedBy>
  <cp:revision>7</cp:revision>
  <dcterms:created xsi:type="dcterms:W3CDTF">2026-10-11T05:45:21Z</dcterms:created>
  <dcterms:modified xsi:type="dcterms:W3CDTF">2026-10-12T05:18:17Z</dcterms:modified>
</cp:coreProperties>
</file>